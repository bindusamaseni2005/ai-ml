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5" r:id="rId6"/>
    <p:sldMasterId id="214748365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6858000" cx="12192000"/>
  <p:notesSz cx="6858000" cy="9144000"/>
  <p:embeddedFontLst>
    <p:embeddedFont>
      <p:font typeface="Corbel"/>
      <p:regular r:id="rId37"/>
      <p:bold r:id="rId38"/>
      <p:italic r:id="rId39"/>
      <p:boldItalic r:id="rId40"/>
    </p:embeddedFont>
    <p:embeddedFont>
      <p:font typeface="Candara"/>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http://customooxmlschemas.google.com/">
      <go:slidesCustomData xmlns:go="http://customooxmlschemas.google.com/" r:id="rId45" roundtripDataSignature="AMtx7miejiaV6Kjz7h+FIjrafuwOJCdU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FBCD75-9F95-470E-B6F1-64D8797DE3FE}">
  <a:tblStyle styleId="{2CFBCD75-9F95-470E-B6F1-64D8797DE3FE}"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Corbel-boldItalic.fntdata"/><Relationship Id="rId20" Type="http://schemas.openxmlformats.org/officeDocument/2006/relationships/slide" Target="slides/slide12.xml"/><Relationship Id="rId42" Type="http://schemas.openxmlformats.org/officeDocument/2006/relationships/font" Target="fonts/Candara-bold.fntdata"/><Relationship Id="rId41" Type="http://schemas.openxmlformats.org/officeDocument/2006/relationships/font" Target="fonts/Candara-regular.fntdata"/><Relationship Id="rId22" Type="http://schemas.openxmlformats.org/officeDocument/2006/relationships/slide" Target="slides/slide14.xml"/><Relationship Id="rId44" Type="http://schemas.openxmlformats.org/officeDocument/2006/relationships/font" Target="fonts/Candara-boldItalic.fntdata"/><Relationship Id="rId21" Type="http://schemas.openxmlformats.org/officeDocument/2006/relationships/slide" Target="slides/slide13.xml"/><Relationship Id="rId43" Type="http://schemas.openxmlformats.org/officeDocument/2006/relationships/font" Target="fonts/Candara-italic.fntdata"/><Relationship Id="rId24" Type="http://schemas.openxmlformats.org/officeDocument/2006/relationships/slide" Target="slides/slide16.xml"/><Relationship Id="rId23" Type="http://schemas.openxmlformats.org/officeDocument/2006/relationships/slide" Target="slides/slide15.xml"/><Relationship Id="rId45" Type="http://customschemas.google.com/relationships/presentationmetadata" Target="meta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font" Target="fonts/Corbel-regular.fntdata"/><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font" Target="fonts/Corbel-italic.fntdata"/><Relationship Id="rId16" Type="http://schemas.openxmlformats.org/officeDocument/2006/relationships/slide" Target="slides/slide8.xml"/><Relationship Id="rId38" Type="http://schemas.openxmlformats.org/officeDocument/2006/relationships/font" Target="fonts/Corbel-bold.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44" name="Google Shape;24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IN"/>
              <a:t>‹#›</a:t>
            </a:fld>
            <a:endParaRPr sz="14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91" name="Google Shape;29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2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IN"/>
              <a:t>‹#›</a:t>
            </a:fld>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99" name="Google Shape;29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2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IN"/>
              <a:t>‹#›</a:t>
            </a:fld>
            <a:endParaRPr sz="1400">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07" name="Google Shape;30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2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IN"/>
              <a:t>‹#›</a:t>
            </a:fld>
            <a:endParaRPr sz="1400">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21" name="Google Shape;32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2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IN"/>
              <a:t>‹#›</a:t>
            </a:fld>
            <a:endParaRPr sz="1400">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329" name="Google Shape;32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2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IN"/>
              <a:t>‹#›</a:t>
            </a:fld>
            <a:endParaRPr sz="1400">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30"/>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1pPr>
            <a:lvl2pPr lvl="1"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2pPr>
            <a:lvl3pPr lvl="2"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3pPr>
            <a:lvl4pPr lvl="3"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4pPr>
            <a:lvl5pPr lvl="4"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5pPr>
            <a:lvl6pPr lvl="5"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6pPr>
            <a:lvl7pPr lvl="6"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7pPr>
            <a:lvl8pPr lvl="7"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8pPr>
            <a:lvl9pPr lvl="8"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9pPr>
          </a:lstStyle>
          <a:p/>
        </p:txBody>
      </p:sp>
      <p:sp>
        <p:nvSpPr>
          <p:cNvPr id="20" name="Google Shape;20;p30"/>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640"/>
              </a:spcBef>
              <a:spcAft>
                <a:spcPts val="0"/>
              </a:spcAft>
              <a:buClr>
                <a:srgbClr val="888888"/>
              </a:buClr>
              <a:buSzPts val="3200"/>
              <a:buFont typeface="Arial"/>
              <a:buNone/>
              <a:defRPr b="0" i="0" sz="3200" u="none" cap="none" strike="noStrike">
                <a:solidFill>
                  <a:srgbClr val="888888"/>
                </a:solidFill>
                <a:latin typeface="Candara"/>
                <a:ea typeface="Candara"/>
                <a:cs typeface="Candara"/>
                <a:sym typeface="Candara"/>
              </a:defRPr>
            </a:lvl1pPr>
            <a:lvl2pPr lvl="1" marR="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Candara"/>
                <a:ea typeface="Candara"/>
                <a:cs typeface="Candara"/>
                <a:sym typeface="Candara"/>
              </a:defRPr>
            </a:lvl2pPr>
            <a:lvl3pPr lvl="2" marR="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Candara"/>
                <a:ea typeface="Candara"/>
                <a:cs typeface="Candara"/>
                <a:sym typeface="Candara"/>
              </a:defRPr>
            </a:lvl3pPr>
            <a:lvl4pPr lvl="3"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ndara"/>
                <a:ea typeface="Candara"/>
                <a:cs typeface="Candara"/>
                <a:sym typeface="Candara"/>
              </a:defRPr>
            </a:lvl4pPr>
            <a:lvl5pPr lvl="4"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ndara"/>
                <a:ea typeface="Candara"/>
                <a:cs typeface="Candara"/>
                <a:sym typeface="Candara"/>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21" name="Google Shape;21;p30"/>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0"/>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1400" u="none">
                <a:solidFill>
                  <a:srgbClr val="595959"/>
                </a:solidFill>
                <a:latin typeface="Candara"/>
                <a:ea typeface="Candara"/>
                <a:cs typeface="Candara"/>
                <a:sym typeface="Candara"/>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30"/>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 name="Shape 24"/>
        <p:cNvGrpSpPr/>
        <p:nvPr/>
      </p:nvGrpSpPr>
      <p:grpSpPr>
        <a:xfrm>
          <a:off x="0" y="0"/>
          <a:ext cx="0" cy="0"/>
          <a:chOff x="0" y="0"/>
          <a:chExt cx="0" cy="0"/>
        </a:xfrm>
      </p:grpSpPr>
      <p:sp>
        <p:nvSpPr>
          <p:cNvPr id="25" name="Google Shape;25;p35"/>
          <p:cNvSpPr txBox="1"/>
          <p:nvPr>
            <p:ph type="title"/>
          </p:nvPr>
        </p:nvSpPr>
        <p:spPr>
          <a:xfrm rot="5400000">
            <a:off x="7285037" y="1828802"/>
            <a:ext cx="5851525" cy="27432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1pPr>
            <a:lvl2pPr lvl="1"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2pPr>
            <a:lvl3pPr lvl="2"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3pPr>
            <a:lvl4pPr lvl="3"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4pPr>
            <a:lvl5pPr lvl="4"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5pPr>
            <a:lvl6pPr lvl="5"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6pPr>
            <a:lvl7pPr lvl="6"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7pPr>
            <a:lvl8pPr lvl="7"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8pPr>
            <a:lvl9pPr lvl="8"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9pPr>
          </a:lstStyle>
          <a:p/>
        </p:txBody>
      </p:sp>
      <p:sp>
        <p:nvSpPr>
          <p:cNvPr id="26" name="Google Shape;26;p35"/>
          <p:cNvSpPr txBox="1"/>
          <p:nvPr>
            <p:ph idx="1" type="body"/>
          </p:nvPr>
        </p:nvSpPr>
        <p:spPr>
          <a:xfrm rot="5400000">
            <a:off x="1697037" y="-812799"/>
            <a:ext cx="5851525" cy="8026400"/>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ndara"/>
                <a:ea typeface="Candara"/>
                <a:cs typeface="Candara"/>
                <a:sym typeface="Candara"/>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ndara"/>
                <a:ea typeface="Candara"/>
                <a:cs typeface="Candara"/>
                <a:sym typeface="Candara"/>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7" name="Google Shape;27;p35"/>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35"/>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1400" u="none">
                <a:solidFill>
                  <a:srgbClr val="595959"/>
                </a:solidFill>
                <a:latin typeface="Candara"/>
                <a:ea typeface="Candara"/>
                <a:cs typeface="Candara"/>
                <a:sym typeface="Candara"/>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35"/>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 name="Shape 30"/>
        <p:cNvGrpSpPr/>
        <p:nvPr/>
      </p:nvGrpSpPr>
      <p:grpSpPr>
        <a:xfrm>
          <a:off x="0" y="0"/>
          <a:ext cx="0" cy="0"/>
          <a:chOff x="0" y="0"/>
          <a:chExt cx="0" cy="0"/>
        </a:xfrm>
      </p:grpSpPr>
      <p:sp>
        <p:nvSpPr>
          <p:cNvPr id="31" name="Google Shape;31;p36"/>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1pPr>
            <a:lvl2pPr lvl="1"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2pPr>
            <a:lvl3pPr lvl="2"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3pPr>
            <a:lvl4pPr lvl="3"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4pPr>
            <a:lvl5pPr lvl="4"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5pPr>
            <a:lvl6pPr lvl="5"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6pPr>
            <a:lvl7pPr lvl="6"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7pPr>
            <a:lvl8pPr lvl="7"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8pPr>
            <a:lvl9pPr lvl="8"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9pPr>
          </a:lstStyle>
          <a:p/>
        </p:txBody>
      </p:sp>
      <p:sp>
        <p:nvSpPr>
          <p:cNvPr id="32" name="Google Shape;32;p36"/>
          <p:cNvSpPr txBox="1"/>
          <p:nvPr>
            <p:ph idx="1" type="body"/>
          </p:nvPr>
        </p:nvSpPr>
        <p:spPr>
          <a:xfrm rot="5400000">
            <a:off x="3833019" y="-1623219"/>
            <a:ext cx="4525962" cy="10972800"/>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ndara"/>
                <a:ea typeface="Candara"/>
                <a:cs typeface="Candara"/>
                <a:sym typeface="Candara"/>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ndara"/>
                <a:ea typeface="Candara"/>
                <a:cs typeface="Candara"/>
                <a:sym typeface="Candara"/>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 name="Google Shape;33;p36"/>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36"/>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1400" u="none">
                <a:solidFill>
                  <a:srgbClr val="595959"/>
                </a:solidFill>
                <a:latin typeface="Candara"/>
                <a:ea typeface="Candara"/>
                <a:cs typeface="Candara"/>
                <a:sym typeface="Candara"/>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36"/>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 name="Shape 36"/>
        <p:cNvGrpSpPr/>
        <p:nvPr/>
      </p:nvGrpSpPr>
      <p:grpSpPr>
        <a:xfrm>
          <a:off x="0" y="0"/>
          <a:ext cx="0" cy="0"/>
          <a:chOff x="0" y="0"/>
          <a:chExt cx="0" cy="0"/>
        </a:xfrm>
      </p:grpSpPr>
      <p:sp>
        <p:nvSpPr>
          <p:cNvPr id="37" name="Google Shape;37;p37"/>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SzPts val="1400"/>
              <a:buNone/>
              <a:defRPr b="1" i="0" sz="2000" u="none" cap="none" strike="noStrike">
                <a:solidFill>
                  <a:schemeClr val="dk1"/>
                </a:solidFill>
                <a:latin typeface="Corbel"/>
                <a:ea typeface="Corbel"/>
                <a:cs typeface="Corbel"/>
                <a:sym typeface="Corbel"/>
              </a:defRPr>
            </a:lvl1pPr>
            <a:lvl2pPr lvl="1"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2pPr>
            <a:lvl3pPr lvl="2"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3pPr>
            <a:lvl4pPr lvl="3"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4pPr>
            <a:lvl5pPr lvl="4"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5pPr>
            <a:lvl6pPr lvl="5"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6pPr>
            <a:lvl7pPr lvl="6"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7pPr>
            <a:lvl8pPr lvl="7"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8pPr>
            <a:lvl9pPr lvl="8"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9pPr>
          </a:lstStyle>
          <a:p/>
        </p:txBody>
      </p:sp>
      <p:sp>
        <p:nvSpPr>
          <p:cNvPr id="38" name="Google Shape;38;p37"/>
          <p:cNvSpPr/>
          <p:nvPr>
            <p:ph idx="2" type="pic"/>
          </p:nvPr>
        </p:nvSpPr>
        <p:spPr>
          <a:xfrm>
            <a:off x="2389717" y="612775"/>
            <a:ext cx="7315200" cy="411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640"/>
              </a:spcBef>
              <a:spcAft>
                <a:spcPts val="0"/>
              </a:spcAft>
              <a:buClr>
                <a:schemeClr val="dk1"/>
              </a:buClr>
              <a:buSzPts val="3200"/>
              <a:buFont typeface="Arial"/>
              <a:buNone/>
              <a:defRPr b="0" i="0" sz="3200" u="none" cap="none" strike="noStrike">
                <a:solidFill>
                  <a:schemeClr val="dk1"/>
                </a:solidFill>
                <a:latin typeface="Candara"/>
                <a:ea typeface="Candara"/>
                <a:cs typeface="Candara"/>
                <a:sym typeface="Candara"/>
              </a:defRPr>
            </a:lvl1pPr>
            <a:lvl2pPr lvl="1"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ndara"/>
                <a:ea typeface="Candara"/>
                <a:cs typeface="Candara"/>
                <a:sym typeface="Candara"/>
              </a:defRPr>
            </a:lvl2pPr>
            <a:lvl3pPr lvl="2"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Candara"/>
                <a:ea typeface="Candara"/>
                <a:cs typeface="Candara"/>
                <a:sym typeface="Candara"/>
              </a:defRPr>
            </a:lvl3pPr>
            <a:lvl4pPr lvl="3"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ndara"/>
                <a:ea typeface="Candara"/>
                <a:cs typeface="Candara"/>
                <a:sym typeface="Candara"/>
              </a:defRPr>
            </a:lvl4pPr>
            <a:lvl5pPr lvl="4"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ndara"/>
                <a:ea typeface="Candara"/>
                <a:cs typeface="Candara"/>
                <a:sym typeface="Candara"/>
              </a:defRPr>
            </a:lvl5pPr>
            <a:lvl6pPr lvl="5"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39" name="Google Shape;39;p37"/>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ndara"/>
                <a:ea typeface="Candara"/>
                <a:cs typeface="Candara"/>
                <a:sym typeface="Candara"/>
              </a:defRPr>
            </a:lvl1pPr>
            <a:lvl2pPr indent="-228600" lvl="1" marL="914400" marR="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Candara"/>
                <a:ea typeface="Candara"/>
                <a:cs typeface="Candara"/>
                <a:sym typeface="Candara"/>
              </a:defRPr>
            </a:lvl2pPr>
            <a:lvl3pPr indent="-228600" lvl="2" marL="1371600" marR="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Candara"/>
                <a:ea typeface="Candara"/>
                <a:cs typeface="Candara"/>
                <a:sym typeface="Candara"/>
              </a:defRPr>
            </a:lvl3pPr>
            <a:lvl4pPr indent="-228600" lvl="3" marL="1828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ndara"/>
                <a:ea typeface="Candara"/>
                <a:cs typeface="Candara"/>
                <a:sym typeface="Candara"/>
              </a:defRPr>
            </a:lvl4pPr>
            <a:lvl5pPr indent="-228600" lvl="4" marL="22860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ndara"/>
                <a:ea typeface="Candara"/>
                <a:cs typeface="Candara"/>
                <a:sym typeface="Candara"/>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40" name="Google Shape;40;p37"/>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37"/>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1400" u="none">
                <a:solidFill>
                  <a:srgbClr val="595959"/>
                </a:solidFill>
                <a:latin typeface="Candara"/>
                <a:ea typeface="Candara"/>
                <a:cs typeface="Candara"/>
                <a:sym typeface="Candara"/>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37"/>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3" name="Shape 43"/>
        <p:cNvGrpSpPr/>
        <p:nvPr/>
      </p:nvGrpSpPr>
      <p:grpSpPr>
        <a:xfrm>
          <a:off x="0" y="0"/>
          <a:ext cx="0" cy="0"/>
          <a:chOff x="0" y="0"/>
          <a:chExt cx="0" cy="0"/>
        </a:xfrm>
      </p:grpSpPr>
      <p:sp>
        <p:nvSpPr>
          <p:cNvPr id="44" name="Google Shape;44;p38"/>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SzPts val="1400"/>
              <a:buNone/>
              <a:defRPr b="1" i="0" sz="2000" u="none" cap="none" strike="noStrike">
                <a:solidFill>
                  <a:schemeClr val="dk1"/>
                </a:solidFill>
                <a:latin typeface="Corbel"/>
                <a:ea typeface="Corbel"/>
                <a:cs typeface="Corbel"/>
                <a:sym typeface="Corbel"/>
              </a:defRPr>
            </a:lvl1pPr>
            <a:lvl2pPr lvl="1"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2pPr>
            <a:lvl3pPr lvl="2"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3pPr>
            <a:lvl4pPr lvl="3"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4pPr>
            <a:lvl5pPr lvl="4"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5pPr>
            <a:lvl6pPr lvl="5"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6pPr>
            <a:lvl7pPr lvl="6"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7pPr>
            <a:lvl8pPr lvl="7"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8pPr>
            <a:lvl9pPr lvl="8"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9pPr>
          </a:lstStyle>
          <a:p/>
        </p:txBody>
      </p:sp>
      <p:sp>
        <p:nvSpPr>
          <p:cNvPr id="45" name="Google Shape;45;p38"/>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ndara"/>
                <a:ea typeface="Candara"/>
                <a:cs typeface="Candara"/>
                <a:sym typeface="Candara"/>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ndara"/>
                <a:ea typeface="Candara"/>
                <a:cs typeface="Candara"/>
                <a:sym typeface="Candara"/>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6" name="Google Shape;46;p38"/>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ndara"/>
                <a:ea typeface="Candara"/>
                <a:cs typeface="Candara"/>
                <a:sym typeface="Candara"/>
              </a:defRPr>
            </a:lvl1pPr>
            <a:lvl2pPr indent="-228600" lvl="1" marL="914400" marR="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Candara"/>
                <a:ea typeface="Candara"/>
                <a:cs typeface="Candara"/>
                <a:sym typeface="Candara"/>
              </a:defRPr>
            </a:lvl2pPr>
            <a:lvl3pPr indent="-228600" lvl="2" marL="1371600" marR="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Candara"/>
                <a:ea typeface="Candara"/>
                <a:cs typeface="Candara"/>
                <a:sym typeface="Candara"/>
              </a:defRPr>
            </a:lvl3pPr>
            <a:lvl4pPr indent="-228600" lvl="3" marL="1828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ndara"/>
                <a:ea typeface="Candara"/>
                <a:cs typeface="Candara"/>
                <a:sym typeface="Candara"/>
              </a:defRPr>
            </a:lvl4pPr>
            <a:lvl5pPr indent="-228600" lvl="4" marL="22860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ndara"/>
                <a:ea typeface="Candara"/>
                <a:cs typeface="Candara"/>
                <a:sym typeface="Candara"/>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47" name="Google Shape;47;p38"/>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38"/>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1400" u="none">
                <a:solidFill>
                  <a:srgbClr val="595959"/>
                </a:solidFill>
                <a:latin typeface="Candara"/>
                <a:ea typeface="Candara"/>
                <a:cs typeface="Candara"/>
                <a:sym typeface="Candara"/>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38"/>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39"/>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1pPr>
            <a:lvl2pPr lvl="1"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2pPr>
            <a:lvl3pPr lvl="2"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3pPr>
            <a:lvl4pPr lvl="3"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4pPr>
            <a:lvl5pPr lvl="4"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5pPr>
            <a:lvl6pPr lvl="5"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6pPr>
            <a:lvl7pPr lvl="6"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7pPr>
            <a:lvl8pPr lvl="7"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8pPr>
            <a:lvl9pPr lvl="8"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9pPr>
          </a:lstStyle>
          <a:p/>
        </p:txBody>
      </p:sp>
      <p:sp>
        <p:nvSpPr>
          <p:cNvPr id="52" name="Google Shape;52;p39"/>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marR="0" algn="l">
              <a:lnSpc>
                <a:spcPct val="100000"/>
              </a:lnSpc>
              <a:spcBef>
                <a:spcPts val="480"/>
              </a:spcBef>
              <a:spcAft>
                <a:spcPts val="0"/>
              </a:spcAft>
              <a:buClr>
                <a:schemeClr val="dk1"/>
              </a:buClr>
              <a:buSzPts val="2400"/>
              <a:buFont typeface="Arial"/>
              <a:buNone/>
              <a:defRPr b="1" i="0" sz="2400" u="none" cap="none" strike="noStrike">
                <a:solidFill>
                  <a:schemeClr val="dk1"/>
                </a:solidFill>
                <a:latin typeface="Candara"/>
                <a:ea typeface="Candara"/>
                <a:cs typeface="Candara"/>
                <a:sym typeface="Candara"/>
              </a:defRPr>
            </a:lvl1pPr>
            <a:lvl2pPr indent="-228600" lvl="1" marL="914400" marR="0" algn="l">
              <a:lnSpc>
                <a:spcPct val="100000"/>
              </a:lnSpc>
              <a:spcBef>
                <a:spcPts val="400"/>
              </a:spcBef>
              <a:spcAft>
                <a:spcPts val="0"/>
              </a:spcAft>
              <a:buClr>
                <a:schemeClr val="dk1"/>
              </a:buClr>
              <a:buSzPts val="2000"/>
              <a:buFont typeface="Arial"/>
              <a:buNone/>
              <a:defRPr b="1" i="0" sz="2000" u="none" cap="none" strike="noStrike">
                <a:solidFill>
                  <a:schemeClr val="dk1"/>
                </a:solidFill>
                <a:latin typeface="Candara"/>
                <a:ea typeface="Candara"/>
                <a:cs typeface="Candara"/>
                <a:sym typeface="Candara"/>
              </a:defRPr>
            </a:lvl2pPr>
            <a:lvl3pPr indent="-228600" lvl="2" marL="1371600" marR="0" algn="l">
              <a:lnSpc>
                <a:spcPct val="100000"/>
              </a:lnSpc>
              <a:spcBef>
                <a:spcPts val="360"/>
              </a:spcBef>
              <a:spcAft>
                <a:spcPts val="0"/>
              </a:spcAft>
              <a:buClr>
                <a:schemeClr val="dk1"/>
              </a:buClr>
              <a:buSzPts val="1800"/>
              <a:buFont typeface="Arial"/>
              <a:buNone/>
              <a:defRPr b="1" i="0" sz="1800" u="none" cap="none" strike="noStrike">
                <a:solidFill>
                  <a:schemeClr val="dk1"/>
                </a:solidFill>
                <a:latin typeface="Candara"/>
                <a:ea typeface="Candara"/>
                <a:cs typeface="Candara"/>
                <a:sym typeface="Candara"/>
              </a:defRPr>
            </a:lvl3pPr>
            <a:lvl4pPr indent="-228600" lvl="3" marL="18288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ndara"/>
                <a:ea typeface="Candara"/>
                <a:cs typeface="Candara"/>
                <a:sym typeface="Candara"/>
              </a:defRPr>
            </a:lvl4pPr>
            <a:lvl5pPr indent="-228600" lvl="4" marL="22860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ndara"/>
                <a:ea typeface="Candara"/>
                <a:cs typeface="Candara"/>
                <a:sym typeface="Candara"/>
              </a:defRPr>
            </a:lvl5pPr>
            <a:lvl6pPr indent="-228600" lvl="5" marL="27432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39"/>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1pPr>
            <a:lvl2pPr indent="-355600" lvl="1" marL="914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2pPr>
            <a:lvl3pPr indent="-342900" lvl="2" marL="1371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ndara"/>
                <a:ea typeface="Candara"/>
                <a:cs typeface="Candara"/>
                <a:sym typeface="Candara"/>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ndara"/>
                <a:ea typeface="Candara"/>
                <a:cs typeface="Candara"/>
                <a:sym typeface="Candara"/>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ndara"/>
                <a:ea typeface="Candara"/>
                <a:cs typeface="Candara"/>
                <a:sym typeface="Candara"/>
              </a:defRPr>
            </a:lvl5pPr>
            <a:lvl6pPr indent="-330200" lvl="5" marL="27432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4" name="Google Shape;54;p39"/>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marR="0" algn="l">
              <a:lnSpc>
                <a:spcPct val="100000"/>
              </a:lnSpc>
              <a:spcBef>
                <a:spcPts val="480"/>
              </a:spcBef>
              <a:spcAft>
                <a:spcPts val="0"/>
              </a:spcAft>
              <a:buClr>
                <a:schemeClr val="dk1"/>
              </a:buClr>
              <a:buSzPts val="2400"/>
              <a:buFont typeface="Arial"/>
              <a:buNone/>
              <a:defRPr b="1" i="0" sz="2400" u="none" cap="none" strike="noStrike">
                <a:solidFill>
                  <a:schemeClr val="dk1"/>
                </a:solidFill>
                <a:latin typeface="Candara"/>
                <a:ea typeface="Candara"/>
                <a:cs typeface="Candara"/>
                <a:sym typeface="Candara"/>
              </a:defRPr>
            </a:lvl1pPr>
            <a:lvl2pPr indent="-228600" lvl="1" marL="914400" marR="0" algn="l">
              <a:lnSpc>
                <a:spcPct val="100000"/>
              </a:lnSpc>
              <a:spcBef>
                <a:spcPts val="400"/>
              </a:spcBef>
              <a:spcAft>
                <a:spcPts val="0"/>
              </a:spcAft>
              <a:buClr>
                <a:schemeClr val="dk1"/>
              </a:buClr>
              <a:buSzPts val="2000"/>
              <a:buFont typeface="Arial"/>
              <a:buNone/>
              <a:defRPr b="1" i="0" sz="2000" u="none" cap="none" strike="noStrike">
                <a:solidFill>
                  <a:schemeClr val="dk1"/>
                </a:solidFill>
                <a:latin typeface="Candara"/>
                <a:ea typeface="Candara"/>
                <a:cs typeface="Candara"/>
                <a:sym typeface="Candara"/>
              </a:defRPr>
            </a:lvl2pPr>
            <a:lvl3pPr indent="-228600" lvl="2" marL="1371600" marR="0" algn="l">
              <a:lnSpc>
                <a:spcPct val="100000"/>
              </a:lnSpc>
              <a:spcBef>
                <a:spcPts val="360"/>
              </a:spcBef>
              <a:spcAft>
                <a:spcPts val="0"/>
              </a:spcAft>
              <a:buClr>
                <a:schemeClr val="dk1"/>
              </a:buClr>
              <a:buSzPts val="1800"/>
              <a:buFont typeface="Arial"/>
              <a:buNone/>
              <a:defRPr b="1" i="0" sz="1800" u="none" cap="none" strike="noStrike">
                <a:solidFill>
                  <a:schemeClr val="dk1"/>
                </a:solidFill>
                <a:latin typeface="Candara"/>
                <a:ea typeface="Candara"/>
                <a:cs typeface="Candara"/>
                <a:sym typeface="Candara"/>
              </a:defRPr>
            </a:lvl3pPr>
            <a:lvl4pPr indent="-228600" lvl="3" marL="18288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ndara"/>
                <a:ea typeface="Candara"/>
                <a:cs typeface="Candara"/>
                <a:sym typeface="Candara"/>
              </a:defRPr>
            </a:lvl4pPr>
            <a:lvl5pPr indent="-228600" lvl="4" marL="22860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ndara"/>
                <a:ea typeface="Candara"/>
                <a:cs typeface="Candara"/>
                <a:sym typeface="Candara"/>
              </a:defRPr>
            </a:lvl5pPr>
            <a:lvl6pPr indent="-228600" lvl="5" marL="27432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39"/>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1pPr>
            <a:lvl2pPr indent="-355600" lvl="1" marL="914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2pPr>
            <a:lvl3pPr indent="-342900" lvl="2" marL="1371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ndara"/>
                <a:ea typeface="Candara"/>
                <a:cs typeface="Candara"/>
                <a:sym typeface="Candara"/>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ndara"/>
                <a:ea typeface="Candara"/>
                <a:cs typeface="Candara"/>
                <a:sym typeface="Candara"/>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ndara"/>
                <a:ea typeface="Candara"/>
                <a:cs typeface="Candara"/>
                <a:sym typeface="Candara"/>
              </a:defRPr>
            </a:lvl5pPr>
            <a:lvl6pPr indent="-330200" lvl="5" marL="27432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6" name="Google Shape;56;p39"/>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39"/>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1400" u="none">
                <a:solidFill>
                  <a:srgbClr val="595959"/>
                </a:solidFill>
                <a:latin typeface="Candara"/>
                <a:ea typeface="Candara"/>
                <a:cs typeface="Candara"/>
                <a:sym typeface="Candara"/>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39"/>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32"/>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1pPr>
            <a:lvl2pPr lvl="1"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2pPr>
            <a:lvl3pPr lvl="2"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3pPr>
            <a:lvl4pPr lvl="3"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4pPr>
            <a:lvl5pPr lvl="4"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5pPr>
            <a:lvl6pPr lvl="5"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6pPr>
            <a:lvl7pPr lvl="6"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7pPr>
            <a:lvl8pPr lvl="7"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8pPr>
            <a:lvl9pPr lvl="8" marR="0" algn="l">
              <a:lnSpc>
                <a:spcPct val="100000"/>
              </a:lnSpc>
              <a:spcBef>
                <a:spcPts val="0"/>
              </a:spcBef>
              <a:spcAft>
                <a:spcPts val="0"/>
              </a:spcAft>
              <a:buSzPts val="1400"/>
              <a:buNone/>
              <a:defRPr b="0" i="0" sz="4400" u="none" cap="none" strike="noStrike">
                <a:solidFill>
                  <a:schemeClr val="dk1"/>
                </a:solidFill>
                <a:latin typeface="Corbel"/>
                <a:ea typeface="Corbel"/>
                <a:cs typeface="Corbel"/>
                <a:sym typeface="Corbel"/>
              </a:defRPr>
            </a:lvl9pPr>
          </a:lstStyle>
          <a:p/>
        </p:txBody>
      </p:sp>
      <p:sp>
        <p:nvSpPr>
          <p:cNvPr id="69" name="Google Shape;69;p32"/>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ndara"/>
                <a:ea typeface="Candara"/>
                <a:cs typeface="Candara"/>
                <a:sym typeface="Candara"/>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ndara"/>
                <a:ea typeface="Candara"/>
                <a:cs typeface="Candara"/>
                <a:sym typeface="Candara"/>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0" name="Google Shape;70;p32"/>
          <p:cNvSpPr txBox="1"/>
          <p:nvPr>
            <p:ph idx="11" type="ftr"/>
          </p:nvPr>
        </p:nvSpPr>
        <p:spPr>
          <a:xfrm>
            <a:off x="4165600" y="6477000"/>
            <a:ext cx="3860800" cy="3651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1400" u="none">
                <a:solidFill>
                  <a:srgbClr val="595959"/>
                </a:solidFill>
                <a:latin typeface="Candara"/>
                <a:ea typeface="Candara"/>
                <a:cs typeface="Candara"/>
                <a:sym typeface="Candara"/>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32"/>
          <p:cNvSpPr txBox="1"/>
          <p:nvPr>
            <p:ph idx="12" type="sldNum"/>
          </p:nvPr>
        </p:nvSpPr>
        <p:spPr>
          <a:xfrm>
            <a:off x="8737600" y="6477000"/>
            <a:ext cx="28448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34"/>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34"/>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1400" u="none">
                <a:solidFill>
                  <a:srgbClr val="595959"/>
                </a:solidFill>
                <a:latin typeface="Candara"/>
                <a:ea typeface="Candara"/>
                <a:cs typeface="Candara"/>
                <a:sym typeface="Candara"/>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34"/>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 Id="rId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9pPr>
          </a:lstStyle>
          <a:p/>
        </p:txBody>
      </p:sp>
      <p:sp>
        <p:nvSpPr>
          <p:cNvPr id="11" name="Google Shape;11;p29"/>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ndara"/>
                <a:ea typeface="Candara"/>
                <a:cs typeface="Candara"/>
                <a:sym typeface="Candara"/>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ndara"/>
                <a:ea typeface="Candara"/>
                <a:cs typeface="Candara"/>
                <a:sym typeface="Candara"/>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595959"/>
                </a:solidFill>
                <a:latin typeface="Candara"/>
                <a:ea typeface="Candara"/>
                <a:cs typeface="Candara"/>
                <a:sym typeface="Candar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solidFill>
                <a:srgbClr val="000000"/>
              </a:solidFill>
              <a:latin typeface="Arial"/>
              <a:ea typeface="Arial"/>
              <a:cs typeface="Arial"/>
              <a:sym typeface="Arial"/>
            </a:endParaRPr>
          </a:p>
        </p:txBody>
      </p:sp>
      <p:sp>
        <p:nvSpPr>
          <p:cNvPr id="15" name="Google Shape;15;p29"/>
          <p:cNvSpPr txBox="1"/>
          <p:nvPr/>
        </p:nvSpPr>
        <p:spPr>
          <a:xfrm>
            <a:off x="0" y="0"/>
            <a:ext cx="508000" cy="685800"/>
          </a:xfrm>
          <a:prstGeom prst="rect">
            <a:avLst/>
          </a:prstGeom>
          <a:solidFill>
            <a:srgbClr val="0F75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29"/>
          <p:cNvSpPr txBox="1"/>
          <p:nvPr/>
        </p:nvSpPr>
        <p:spPr>
          <a:xfrm>
            <a:off x="0" y="685800"/>
            <a:ext cx="508000" cy="685800"/>
          </a:xfrm>
          <a:prstGeom prst="rect">
            <a:avLst/>
          </a:prstGeom>
          <a:solidFill>
            <a:srgbClr val="25AAE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E:\Brand &amp; all that\Greatlearning Logo\Greatlearning Logo.jpg" id="17" name="Google Shape;17;p29"/>
          <p:cNvPicPr preferRelativeResize="0"/>
          <p:nvPr/>
        </p:nvPicPr>
        <p:blipFill rotWithShape="1">
          <a:blip r:embed="rId1">
            <a:alphaModFix/>
          </a:blip>
          <a:srcRect b="71116" l="19363" r="17929" t="19598"/>
          <a:stretch/>
        </p:blipFill>
        <p:spPr>
          <a:xfrm>
            <a:off x="8197850" y="317500"/>
            <a:ext cx="3598862" cy="5651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31"/>
          <p:cNvSpPr txBox="1"/>
          <p:nvPr/>
        </p:nvSpPr>
        <p:spPr>
          <a:xfrm>
            <a:off x="0" y="0"/>
            <a:ext cx="508000" cy="685800"/>
          </a:xfrm>
          <a:prstGeom prst="rect">
            <a:avLst/>
          </a:prstGeom>
          <a:solidFill>
            <a:srgbClr val="0F75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 name="Google Shape;61;p31"/>
          <p:cNvSpPr txBox="1"/>
          <p:nvPr/>
        </p:nvSpPr>
        <p:spPr>
          <a:xfrm>
            <a:off x="0" y="685800"/>
            <a:ext cx="508000" cy="685800"/>
          </a:xfrm>
          <a:prstGeom prst="rect">
            <a:avLst/>
          </a:prstGeom>
          <a:solidFill>
            <a:srgbClr val="25AAE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E:\Brand &amp; all that\Greatlearning Logo\Greatlearning Logo.jpg" id="62" name="Google Shape;62;p31"/>
          <p:cNvPicPr preferRelativeResize="0"/>
          <p:nvPr/>
        </p:nvPicPr>
        <p:blipFill rotWithShape="1">
          <a:blip r:embed="rId1">
            <a:alphaModFix/>
          </a:blip>
          <a:srcRect b="71116" l="19363" r="17929" t="19598"/>
          <a:stretch/>
        </p:blipFill>
        <p:spPr>
          <a:xfrm>
            <a:off x="8197850" y="317500"/>
            <a:ext cx="3598862" cy="565150"/>
          </a:xfrm>
          <a:prstGeom prst="rect">
            <a:avLst/>
          </a:prstGeom>
          <a:noFill/>
          <a:ln>
            <a:noFill/>
          </a:ln>
        </p:spPr>
      </p:pic>
      <p:sp>
        <p:nvSpPr>
          <p:cNvPr id="63" name="Google Shape;63;p31"/>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9pPr>
          </a:lstStyle>
          <a:p/>
        </p:txBody>
      </p:sp>
      <p:sp>
        <p:nvSpPr>
          <p:cNvPr id="64" name="Google Shape;64;p31"/>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ndara"/>
                <a:ea typeface="Candara"/>
                <a:cs typeface="Candara"/>
                <a:sym typeface="Candara"/>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ndara"/>
                <a:ea typeface="Candara"/>
                <a:cs typeface="Candara"/>
                <a:sym typeface="Candara"/>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5" name="Google Shape;65;p31"/>
          <p:cNvSpPr txBox="1"/>
          <p:nvPr>
            <p:ph idx="11" type="ftr"/>
          </p:nvPr>
        </p:nvSpPr>
        <p:spPr>
          <a:xfrm>
            <a:off x="4165600" y="6477000"/>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595959"/>
                </a:solidFill>
                <a:latin typeface="Candara"/>
                <a:ea typeface="Candara"/>
                <a:cs typeface="Candara"/>
                <a:sym typeface="Candar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6" name="Google Shape;66;p31"/>
          <p:cNvSpPr txBox="1"/>
          <p:nvPr>
            <p:ph idx="12" type="sldNum"/>
          </p:nvPr>
        </p:nvSpPr>
        <p:spPr>
          <a:xfrm>
            <a:off x="8737600" y="6477000"/>
            <a:ext cx="2844800"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6"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sp>
        <p:nvSpPr>
          <p:cNvPr id="73" name="Google Shape;73;p33"/>
          <p:cNvSpPr txBox="1"/>
          <p:nvPr/>
        </p:nvSpPr>
        <p:spPr>
          <a:xfrm>
            <a:off x="0" y="0"/>
            <a:ext cx="508000" cy="685800"/>
          </a:xfrm>
          <a:prstGeom prst="rect">
            <a:avLst/>
          </a:prstGeom>
          <a:solidFill>
            <a:srgbClr val="0F75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3"/>
          <p:cNvSpPr txBox="1"/>
          <p:nvPr/>
        </p:nvSpPr>
        <p:spPr>
          <a:xfrm>
            <a:off x="0" y="685800"/>
            <a:ext cx="508000" cy="685800"/>
          </a:xfrm>
          <a:prstGeom prst="rect">
            <a:avLst/>
          </a:prstGeom>
          <a:solidFill>
            <a:srgbClr val="25AAE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E:\Brand &amp; all that\Greatlearning Logo\Greatlearning Logo.jpg" id="75" name="Google Shape;75;p33"/>
          <p:cNvPicPr preferRelativeResize="0"/>
          <p:nvPr/>
        </p:nvPicPr>
        <p:blipFill rotWithShape="1">
          <a:blip r:embed="rId1">
            <a:alphaModFix/>
          </a:blip>
          <a:srcRect b="71116" l="19363" r="17929" t="19598"/>
          <a:stretch/>
        </p:blipFill>
        <p:spPr>
          <a:xfrm>
            <a:off x="8197850" y="317500"/>
            <a:ext cx="3598862" cy="565150"/>
          </a:xfrm>
          <a:prstGeom prst="rect">
            <a:avLst/>
          </a:prstGeom>
          <a:noFill/>
          <a:ln>
            <a:noFill/>
          </a:ln>
        </p:spPr>
      </p:pic>
      <p:sp>
        <p:nvSpPr>
          <p:cNvPr id="76" name="Google Shape;76;p33"/>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orbel"/>
                <a:ea typeface="Corbel"/>
                <a:cs typeface="Corbel"/>
                <a:sym typeface="Corbel"/>
              </a:defRPr>
            </a:lvl9pPr>
          </a:lstStyle>
          <a:p/>
        </p:txBody>
      </p:sp>
      <p:sp>
        <p:nvSpPr>
          <p:cNvPr id="77" name="Google Shape;77;p33"/>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ndara"/>
                <a:ea typeface="Candara"/>
                <a:cs typeface="Candara"/>
                <a:sym typeface="Candara"/>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ndara"/>
                <a:ea typeface="Candara"/>
                <a:cs typeface="Candara"/>
                <a:sym typeface="Candara"/>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ndara"/>
                <a:ea typeface="Candara"/>
                <a:cs typeface="Candara"/>
                <a:sym typeface="Candar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8" name="Google Shape;78;p33"/>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9" name="Google Shape;79;p33"/>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595959"/>
                </a:solidFill>
                <a:latin typeface="Candara"/>
                <a:ea typeface="Candara"/>
                <a:cs typeface="Candara"/>
                <a:sym typeface="Candar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0" name="Google Shape;80;p33"/>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1pPr>
            <a:lvl2pPr indent="0" lvl="1"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2pPr>
            <a:lvl3pPr indent="0" lvl="2"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3pPr>
            <a:lvl4pPr indent="0" lvl="3"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4pPr>
            <a:lvl5pPr indent="0" lvl="4"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5pPr>
            <a:lvl6pPr indent="0" lvl="5"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6pPr>
            <a:lvl7pPr indent="0" lvl="6"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7pPr>
            <a:lvl8pPr indent="0" lvl="7"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8pPr>
            <a:lvl9pPr indent="0" lvl="8" marL="0" marR="0" rtl="0" algn="ctr">
              <a:lnSpc>
                <a:spcPct val="100000"/>
              </a:lnSpc>
              <a:spcBef>
                <a:spcPts val="0"/>
              </a:spcBef>
              <a:spcAft>
                <a:spcPts val="0"/>
              </a:spcAft>
              <a:buClr>
                <a:srgbClr val="595959"/>
              </a:buClr>
              <a:buSzPts val="1400"/>
              <a:buFont typeface="Candara"/>
              <a:buNone/>
              <a:defRPr b="0" i="0" sz="1400" u="none" cap="none" strike="noStrike">
                <a:solidFill>
                  <a:srgbClr val="595959"/>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en-IN"/>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www.kaggle.com/nisargpatel/automobiles/dat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www.kaggle.com/gutsyrobot/games-data/data"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www.kaggle.com/arthurpaulino/honey-production/data"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2438400" y="2797175"/>
            <a:ext cx="7772400" cy="14700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Times New Roman"/>
              <a:buNone/>
            </a:pPr>
            <a:r>
              <a:rPr b="1" lang="en-IN">
                <a:latin typeface="Times New Roman"/>
                <a:ea typeface="Times New Roman"/>
                <a:cs typeface="Times New Roman"/>
                <a:sym typeface="Times New Roman"/>
              </a:rPr>
              <a:t>Introduction to Visualization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4000"/>
              <a:buFont typeface="Times New Roman"/>
              <a:buNone/>
            </a:pPr>
            <a:r>
              <a:rPr b="0" i="0" lang="en-IN" sz="4000" u="sng" cap="none" strike="noStrike">
                <a:solidFill>
                  <a:schemeClr val="dk1"/>
                </a:solidFill>
                <a:latin typeface="Times New Roman"/>
                <a:ea typeface="Times New Roman"/>
                <a:cs typeface="Times New Roman"/>
                <a:sym typeface="Times New Roman"/>
              </a:rPr>
              <a:t>Learning Objectives </a:t>
            </a:r>
            <a:endParaRPr/>
          </a:p>
        </p:txBody>
      </p:sp>
      <p:sp>
        <p:nvSpPr>
          <p:cNvPr id="95" name="Google Shape;95;p2"/>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IN" sz="2400" u="none" cap="none" strike="noStrike">
                <a:solidFill>
                  <a:schemeClr val="dk1"/>
                </a:solidFill>
                <a:latin typeface="Times New Roman"/>
                <a:ea typeface="Times New Roman"/>
                <a:cs typeface="Times New Roman"/>
                <a:sym typeface="Times New Roman"/>
              </a:rPr>
              <a:t>Introduction to </a:t>
            </a:r>
            <a:r>
              <a:rPr lang="en-IN" sz="2400">
                <a:latin typeface="Times New Roman"/>
                <a:ea typeface="Times New Roman"/>
                <a:cs typeface="Times New Roman"/>
                <a:sym typeface="Times New Roman"/>
              </a:rPr>
              <a:t>Visualization </a:t>
            </a:r>
            <a:r>
              <a:rPr b="0" i="0" lang="en-IN" sz="2400" u="none" cap="none" strike="noStrik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480"/>
              </a:spcBef>
              <a:spcAft>
                <a:spcPts val="0"/>
              </a:spcAft>
              <a:buClr>
                <a:schemeClr val="dk1"/>
              </a:buClr>
              <a:buSzPts val="2400"/>
              <a:buFont typeface="Arial"/>
              <a:buChar char="•"/>
            </a:pPr>
            <a:r>
              <a:rPr lang="en-IN" sz="2400">
                <a:latin typeface="Times New Roman"/>
                <a:ea typeface="Times New Roman"/>
                <a:cs typeface="Times New Roman"/>
                <a:sym typeface="Times New Roman"/>
              </a:rPr>
              <a:t>M</a:t>
            </a:r>
            <a:r>
              <a:rPr b="0" i="0" lang="en-IN" sz="2400" u="none" cap="none" strike="noStrike">
                <a:solidFill>
                  <a:schemeClr val="dk1"/>
                </a:solidFill>
                <a:latin typeface="Times New Roman"/>
                <a:ea typeface="Times New Roman"/>
                <a:cs typeface="Times New Roman"/>
                <a:sym typeface="Times New Roman"/>
              </a:rPr>
              <a:t>atlplotlib, Seaborn and Plotly</a:t>
            </a:r>
            <a:endParaRPr/>
          </a:p>
          <a:p>
            <a:pPr indent="-342900" lvl="0" marL="342900" marR="0" rtl="0" algn="l">
              <a:lnSpc>
                <a:spcPct val="100000"/>
              </a:lnSpc>
              <a:spcBef>
                <a:spcPts val="480"/>
              </a:spcBef>
              <a:spcAft>
                <a:spcPts val="0"/>
              </a:spcAft>
              <a:buClr>
                <a:schemeClr val="dk1"/>
              </a:buClr>
              <a:buSzPts val="2400"/>
              <a:buFont typeface="Arial"/>
              <a:buChar char="•"/>
            </a:pPr>
            <a:r>
              <a:rPr lang="en-IN" sz="2400">
                <a:latin typeface="Times New Roman"/>
                <a:ea typeface="Times New Roman"/>
                <a:cs typeface="Times New Roman"/>
                <a:sym typeface="Times New Roman"/>
              </a:rPr>
              <a:t>Hands-on Visualization techniques</a:t>
            </a:r>
            <a:endParaRPr/>
          </a:p>
          <a:p>
            <a:pPr indent="-342900" lvl="0" marL="342900" marR="0" rtl="0" algn="l">
              <a:lnSpc>
                <a:spcPct val="100000"/>
              </a:lnSpc>
              <a:spcBef>
                <a:spcPts val="480"/>
              </a:spcBef>
              <a:spcAft>
                <a:spcPts val="0"/>
              </a:spcAft>
              <a:buClr>
                <a:schemeClr val="dk1"/>
              </a:buClr>
              <a:buSzPts val="2400"/>
              <a:buFont typeface="Arial"/>
              <a:buChar char="•"/>
            </a:pPr>
            <a:r>
              <a:rPr lang="en-IN" sz="2400">
                <a:latin typeface="Times New Roman"/>
                <a:ea typeface="Times New Roman"/>
                <a:cs typeface="Times New Roman"/>
                <a:sym typeface="Times New Roman"/>
              </a:rPr>
              <a:t>Numpy lab exercises</a:t>
            </a:r>
            <a:endParaRPr sz="2400">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lang="en-IN" sz="2400">
                <a:latin typeface="Times New Roman"/>
                <a:ea typeface="Times New Roman"/>
                <a:cs typeface="Times New Roman"/>
                <a:sym typeface="Times New Roman"/>
              </a:rPr>
              <a:t>Pandas lab exercises</a:t>
            </a:r>
            <a:endParaRPr/>
          </a:p>
          <a:p>
            <a:pPr indent="-342900" lvl="0" marL="342900" marR="0" rtl="0" algn="l">
              <a:lnSpc>
                <a:spcPct val="100000"/>
              </a:lnSpc>
              <a:spcBef>
                <a:spcPts val="480"/>
              </a:spcBef>
              <a:spcAft>
                <a:spcPts val="0"/>
              </a:spcAft>
              <a:buClr>
                <a:schemeClr val="dk1"/>
              </a:buClr>
              <a:buSzPts val="2400"/>
              <a:buFont typeface="Arial"/>
              <a:buChar char="•"/>
            </a:pPr>
            <a:r>
              <a:rPr lang="en-IN" sz="2400">
                <a:latin typeface="Times New Roman"/>
                <a:ea typeface="Times New Roman"/>
                <a:cs typeface="Times New Roman"/>
                <a:sym typeface="Times New Roman"/>
              </a:rPr>
              <a:t>Pandas lab exercises with visualization technique_part 1</a:t>
            </a:r>
            <a:endParaRPr/>
          </a:p>
          <a:p>
            <a:pPr indent="-342900" lvl="0" marL="342900" marR="0" rtl="0" algn="l">
              <a:lnSpc>
                <a:spcPct val="100000"/>
              </a:lnSpc>
              <a:spcBef>
                <a:spcPts val="480"/>
              </a:spcBef>
              <a:spcAft>
                <a:spcPts val="0"/>
              </a:spcAft>
              <a:buClr>
                <a:schemeClr val="dk1"/>
              </a:buClr>
              <a:buSzPts val="2400"/>
              <a:buFont typeface="Arial"/>
              <a:buChar char="•"/>
            </a:pPr>
            <a:r>
              <a:rPr lang="en-IN" sz="2400">
                <a:latin typeface="Times New Roman"/>
                <a:ea typeface="Times New Roman"/>
                <a:cs typeface="Times New Roman"/>
                <a:sym typeface="Times New Roman"/>
              </a:rPr>
              <a:t>Data visualization using Seaborn_part 2</a:t>
            </a:r>
            <a:endParaRPr sz="2400">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lang="en-IN" sz="2400">
                <a:latin typeface="Times New Roman"/>
                <a:ea typeface="Times New Roman"/>
                <a:cs typeface="Times New Roman"/>
                <a:sym typeface="Times New Roman"/>
              </a:rPr>
              <a:t>Case Study</a:t>
            </a:r>
            <a:endParaRPr sz="2400">
              <a:latin typeface="Times New Roman"/>
              <a:ea typeface="Times New Roman"/>
              <a:cs typeface="Times New Roman"/>
              <a:sym typeface="Times New Roman"/>
            </a:endParaRPr>
          </a:p>
          <a:p>
            <a:pPr indent="0" lvl="0" marL="342900" marR="0" rtl="0" algn="l">
              <a:lnSpc>
                <a:spcPct val="100000"/>
              </a:lnSpc>
              <a:spcBef>
                <a:spcPts val="480"/>
              </a:spcBef>
              <a:spcAft>
                <a:spcPts val="0"/>
              </a:spcAft>
              <a:buSzPts val="3200"/>
              <a:buNone/>
            </a:pPr>
            <a:r>
              <a:t/>
            </a:r>
            <a:endParaRPr sz="2400">
              <a:latin typeface="Times New Roman"/>
              <a:ea typeface="Times New Roman"/>
              <a:cs typeface="Times New Roman"/>
              <a:sym typeface="Times New Roman"/>
            </a:endParaRPr>
          </a:p>
          <a:p>
            <a:pPr indent="0" lvl="0" marL="342900" marR="0" rtl="0" algn="l">
              <a:lnSpc>
                <a:spcPct val="100000"/>
              </a:lnSpc>
              <a:spcBef>
                <a:spcPts val="480"/>
              </a:spcBef>
              <a:spcAft>
                <a:spcPts val="0"/>
              </a:spcAft>
              <a:buSzPts val="3200"/>
              <a:buNone/>
            </a:pPr>
            <a:r>
              <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p:txBody>
      </p:sp>
      <p:sp>
        <p:nvSpPr>
          <p:cNvPr id="96" name="Google Shape;96;p2"/>
          <p:cNvSpPr txBox="1"/>
          <p:nvPr/>
        </p:nvSpPr>
        <p:spPr>
          <a:xfrm>
            <a:off x="609600" y="6477000"/>
            <a:ext cx="2844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txBox="1"/>
          <p:nvPr/>
        </p:nvSpPr>
        <p:spPr>
          <a:xfrm>
            <a:off x="8737600" y="6477000"/>
            <a:ext cx="284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1400"/>
              <a:buFont typeface="Times New Roman"/>
              <a:buNone/>
            </a:pPr>
            <a:fld id="{00000000-1234-1234-1234-123412341234}" type="slidenum">
              <a:rPr b="0" i="0" lang="en-IN" sz="1400" u="none" cap="none" strike="noStrike">
                <a:solidFill>
                  <a:srgbClr val="595959"/>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4400"/>
              <a:buFont typeface="Corbel"/>
              <a:buNone/>
            </a:pPr>
            <a:r>
              <a:rPr b="0" i="0" lang="en-IN" sz="4400" u="sng" cap="none" strike="noStrike">
                <a:solidFill>
                  <a:schemeClr val="dk1"/>
                </a:solidFill>
              </a:rPr>
              <a:t>Introduction to Visualization</a:t>
            </a:r>
            <a:endParaRPr u="sng"/>
          </a:p>
        </p:txBody>
      </p:sp>
      <p:sp>
        <p:nvSpPr>
          <p:cNvPr id="103" name="Google Shape;103;p3"/>
          <p:cNvSpPr txBox="1"/>
          <p:nvPr>
            <p:ph idx="1" type="body"/>
          </p:nvPr>
        </p:nvSpPr>
        <p:spPr>
          <a:xfrm>
            <a:off x="609600" y="1295399"/>
            <a:ext cx="10972800" cy="4980600"/>
          </a:xfrm>
          <a:prstGeom prst="rect">
            <a:avLst/>
          </a:prstGeom>
          <a:noFill/>
          <a:ln>
            <a:noFill/>
          </a:ln>
        </p:spPr>
        <p:txBody>
          <a:bodyPr anchorCtr="0" anchor="t" bIns="45700" lIns="91425" spcFirstLastPara="1" rIns="91425" wrap="square" tIns="45700">
            <a:noAutofit/>
          </a:bodyPr>
          <a:lstStyle/>
          <a:p>
            <a:pPr indent="-139700" lvl="0" marL="342900" rtl="0" algn="just">
              <a:lnSpc>
                <a:spcPct val="100000"/>
              </a:lnSpc>
              <a:spcBef>
                <a:spcPts val="0"/>
              </a:spcBef>
              <a:spcAft>
                <a:spcPts val="0"/>
              </a:spcAft>
              <a:buSzPts val="3200"/>
              <a:buNone/>
            </a:pPr>
            <a:r>
              <a:rPr lang="en-IN" sz="2400"/>
              <a:t>Data visualization is an important skill in applied statistics and machine learning.</a:t>
            </a:r>
            <a:endParaRPr sz="2400"/>
          </a:p>
          <a:p>
            <a:pPr indent="-139700" lvl="0" marL="342900" rtl="0" algn="just">
              <a:lnSpc>
                <a:spcPct val="100000"/>
              </a:lnSpc>
              <a:spcBef>
                <a:spcPts val="0"/>
              </a:spcBef>
              <a:spcAft>
                <a:spcPts val="0"/>
              </a:spcAft>
              <a:buSzPts val="3200"/>
              <a:buNone/>
            </a:pPr>
            <a:r>
              <a:rPr lang="en-IN" sz="2400"/>
              <a:t>It provides an important suite of tools for gaining a qualitative understanding. This can be helpful when exploring and getting to know a dataset and can help with identifying patterns, corrupt data, outliers, and much more.</a:t>
            </a:r>
            <a:endParaRPr sz="2400"/>
          </a:p>
          <a:p>
            <a:pPr indent="-139700" lvl="0" marL="342900" rtl="0" algn="just">
              <a:lnSpc>
                <a:spcPct val="100000"/>
              </a:lnSpc>
              <a:spcBef>
                <a:spcPts val="0"/>
              </a:spcBef>
              <a:spcAft>
                <a:spcPts val="0"/>
              </a:spcAft>
              <a:buSzPts val="3200"/>
              <a:buNone/>
            </a:pPr>
            <a:r>
              <a:rPr lang="en-IN" sz="2400">
                <a:highlight>
                  <a:srgbClr val="FFFF00"/>
                </a:highlight>
              </a:rPr>
              <a:t>Visualisation is the most important aspect of exploratory data analysis (EDA)</a:t>
            </a:r>
            <a:endParaRPr sz="2400">
              <a:highlight>
                <a:srgbClr val="FFFF00"/>
              </a:highlight>
            </a:endParaRPr>
          </a:p>
          <a:p>
            <a:pPr indent="-139700" lvl="0" marL="342900" rtl="0" algn="just">
              <a:lnSpc>
                <a:spcPct val="100000"/>
              </a:lnSpc>
              <a:spcBef>
                <a:spcPts val="0"/>
              </a:spcBef>
              <a:spcAft>
                <a:spcPts val="0"/>
              </a:spcAft>
              <a:buSzPts val="3200"/>
              <a:buNone/>
            </a:pPr>
            <a:r>
              <a:t/>
            </a:r>
            <a:endParaRPr sz="2400"/>
          </a:p>
          <a:p>
            <a:pPr indent="0" lvl="0" marL="25400" rtl="0" algn="l">
              <a:lnSpc>
                <a:spcPct val="100000"/>
              </a:lnSpc>
              <a:spcBef>
                <a:spcPts val="640"/>
              </a:spcBef>
              <a:spcAft>
                <a:spcPts val="0"/>
              </a:spcAft>
              <a:buSzPts val="3200"/>
              <a:buNone/>
            </a:pPr>
            <a:r>
              <a:rPr lang="en-IN" sz="2400"/>
              <a:t>There are five key plots that you need to know well for basic data visualization. They are:</a:t>
            </a:r>
            <a:endParaRPr sz="2400"/>
          </a:p>
          <a:p>
            <a:pPr indent="-381000" lvl="0" marL="457200" rtl="0" algn="l">
              <a:lnSpc>
                <a:spcPct val="100000"/>
              </a:lnSpc>
              <a:spcBef>
                <a:spcPts val="640"/>
              </a:spcBef>
              <a:spcAft>
                <a:spcPts val="0"/>
              </a:spcAft>
              <a:buSzPts val="2400"/>
              <a:buChar char="•"/>
            </a:pPr>
            <a:r>
              <a:rPr lang="en-IN" sz="2400"/>
              <a:t>Line Plot</a:t>
            </a:r>
            <a:endParaRPr sz="2400"/>
          </a:p>
          <a:p>
            <a:pPr indent="-381000" lvl="0" marL="457200" rtl="0" algn="l">
              <a:lnSpc>
                <a:spcPct val="100000"/>
              </a:lnSpc>
              <a:spcBef>
                <a:spcPts val="640"/>
              </a:spcBef>
              <a:spcAft>
                <a:spcPts val="0"/>
              </a:spcAft>
              <a:buSzPts val="2400"/>
              <a:buChar char="•"/>
            </a:pPr>
            <a:r>
              <a:rPr lang="en-IN" sz="2400"/>
              <a:t>Bar Chart</a:t>
            </a:r>
            <a:endParaRPr sz="2400"/>
          </a:p>
          <a:p>
            <a:pPr indent="-381000" lvl="0" marL="457200" rtl="0" algn="l">
              <a:lnSpc>
                <a:spcPct val="100000"/>
              </a:lnSpc>
              <a:spcBef>
                <a:spcPts val="640"/>
              </a:spcBef>
              <a:spcAft>
                <a:spcPts val="0"/>
              </a:spcAft>
              <a:buSzPts val="2400"/>
              <a:buChar char="•"/>
            </a:pPr>
            <a:r>
              <a:rPr lang="en-IN" sz="2400"/>
              <a:t>Histogram Plot</a:t>
            </a:r>
            <a:endParaRPr sz="2400"/>
          </a:p>
          <a:p>
            <a:pPr indent="-381000" lvl="0" marL="457200" rtl="0" algn="l">
              <a:lnSpc>
                <a:spcPct val="100000"/>
              </a:lnSpc>
              <a:spcBef>
                <a:spcPts val="640"/>
              </a:spcBef>
              <a:spcAft>
                <a:spcPts val="0"/>
              </a:spcAft>
              <a:buSzPts val="2400"/>
              <a:buChar char="•"/>
            </a:pPr>
            <a:r>
              <a:rPr lang="en-IN" sz="2400"/>
              <a:t>Box and Whisker Plot</a:t>
            </a:r>
            <a:endParaRPr sz="2400"/>
          </a:p>
          <a:p>
            <a:pPr indent="-381000" lvl="0" marL="457200" rtl="0" algn="l">
              <a:lnSpc>
                <a:spcPct val="100000"/>
              </a:lnSpc>
              <a:spcBef>
                <a:spcPts val="640"/>
              </a:spcBef>
              <a:spcAft>
                <a:spcPts val="0"/>
              </a:spcAft>
              <a:buSzPts val="2400"/>
              <a:buChar char="•"/>
            </a:pPr>
            <a:r>
              <a:rPr lang="en-IN" sz="2400"/>
              <a:t>Scatter Plot</a:t>
            </a:r>
            <a:endParaRPr sz="2400"/>
          </a:p>
          <a:p>
            <a:pPr indent="-139700" lvl="0" marL="342900" marR="0" rtl="0" algn="l">
              <a:lnSpc>
                <a:spcPct val="100000"/>
              </a:lnSpc>
              <a:spcBef>
                <a:spcPts val="0"/>
              </a:spcBef>
              <a:spcAft>
                <a:spcPts val="0"/>
              </a:spcAft>
              <a:buClr>
                <a:schemeClr val="dk1"/>
              </a:buClr>
              <a:buSzPts val="3200"/>
              <a:buFont typeface="Arial"/>
              <a:buNone/>
            </a:pPr>
            <a:r>
              <a:t/>
            </a:r>
            <a:endParaRPr sz="2400"/>
          </a:p>
          <a:p>
            <a:pPr indent="-139700" lvl="0" marL="342900" marR="0" rtl="0" algn="l">
              <a:lnSpc>
                <a:spcPct val="100000"/>
              </a:lnSpc>
              <a:spcBef>
                <a:spcPts val="0"/>
              </a:spcBef>
              <a:spcAft>
                <a:spcPts val="0"/>
              </a:spcAft>
              <a:buClr>
                <a:schemeClr val="dk1"/>
              </a:buClr>
              <a:buSzPts val="3200"/>
              <a:buFont typeface="Arial"/>
              <a:buNone/>
            </a:pPr>
            <a:r>
              <a:t/>
            </a:r>
            <a:endParaRPr sz="2400"/>
          </a:p>
          <a:p>
            <a:pPr indent="-139700" lvl="0" marL="342900" marR="0" rtl="0" algn="l">
              <a:lnSpc>
                <a:spcPct val="100000"/>
              </a:lnSpc>
              <a:spcBef>
                <a:spcPts val="0"/>
              </a:spcBef>
              <a:spcAft>
                <a:spcPts val="0"/>
              </a:spcAft>
              <a:buClr>
                <a:schemeClr val="dk1"/>
              </a:buClr>
              <a:buSzPts val="3200"/>
              <a:buFont typeface="Arial"/>
              <a:buNone/>
            </a:pPr>
            <a:r>
              <a:t/>
            </a:r>
            <a:endParaRPr sz="2400"/>
          </a:p>
          <a:p>
            <a:pPr indent="-139700" lvl="0" marL="342900" marR="0" rtl="0" algn="l">
              <a:lnSpc>
                <a:spcPct val="100000"/>
              </a:lnSpc>
              <a:spcBef>
                <a:spcPts val="0"/>
              </a:spcBef>
              <a:spcAft>
                <a:spcPts val="0"/>
              </a:spcAft>
              <a:buClr>
                <a:schemeClr val="dk1"/>
              </a:buClr>
              <a:buSzPts val="3200"/>
              <a:buFont typeface="Arial"/>
              <a:buNone/>
            </a:pPr>
            <a:r>
              <a:t/>
            </a:r>
            <a:endParaRPr sz="2400"/>
          </a:p>
          <a:p>
            <a:pPr indent="-139700" lvl="0" marL="342900" marR="0" rtl="0" algn="l">
              <a:lnSpc>
                <a:spcPct val="100000"/>
              </a:lnSpc>
              <a:spcBef>
                <a:spcPts val="0"/>
              </a:spcBef>
              <a:spcAft>
                <a:spcPts val="0"/>
              </a:spcAft>
              <a:buClr>
                <a:schemeClr val="dk1"/>
              </a:buClr>
              <a:buSzPts val="3200"/>
              <a:buFont typeface="Arial"/>
              <a:buNone/>
            </a:pPr>
            <a:r>
              <a:t/>
            </a:r>
            <a:endParaRPr sz="2400"/>
          </a:p>
        </p:txBody>
      </p:sp>
      <p:sp>
        <p:nvSpPr>
          <p:cNvPr id="104" name="Google Shape;104;p3"/>
          <p:cNvSpPr txBox="1"/>
          <p:nvPr/>
        </p:nvSpPr>
        <p:spPr>
          <a:xfrm>
            <a:off x="609600" y="6477000"/>
            <a:ext cx="2844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 name="Google Shape;105;p3"/>
          <p:cNvSpPr txBox="1"/>
          <p:nvPr/>
        </p:nvSpPr>
        <p:spPr>
          <a:xfrm>
            <a:off x="8737600" y="6477000"/>
            <a:ext cx="284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1400"/>
              <a:buFont typeface="Candara"/>
              <a:buNone/>
            </a:pPr>
            <a:fld id="{00000000-1234-1234-1234-123412341234}" type="slidenum">
              <a:rPr b="0" i="0" lang="en-IN" sz="1400" u="none" cap="none" strike="noStrike">
                <a:solidFill>
                  <a:srgbClr val="595959"/>
                </a:solidFill>
                <a:latin typeface="Candara"/>
                <a:ea typeface="Candara"/>
                <a:cs typeface="Candara"/>
                <a:sym typeface="Candara"/>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What is EDA?</a:t>
            </a:r>
            <a:endParaRPr/>
          </a:p>
        </p:txBody>
      </p:sp>
      <p:sp>
        <p:nvSpPr>
          <p:cNvPr id="111" name="Google Shape;111;p4"/>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431800" lvl="0" marL="457200" marR="0" rtl="0" algn="l">
              <a:lnSpc>
                <a:spcPct val="100000"/>
              </a:lnSpc>
              <a:spcBef>
                <a:spcPts val="640"/>
              </a:spcBef>
              <a:spcAft>
                <a:spcPts val="0"/>
              </a:spcAft>
              <a:buClr>
                <a:schemeClr val="dk1"/>
              </a:buClr>
              <a:buSzPts val="3200"/>
              <a:buFont typeface="Arial"/>
              <a:buChar char="•"/>
            </a:pPr>
            <a:r>
              <a:rPr lang="en-IN"/>
              <a:t>Analyse datasets visually</a:t>
            </a:r>
            <a:endParaRPr/>
          </a:p>
          <a:p>
            <a:pPr indent="-431800" lvl="0" marL="457200" marR="0" rtl="0" algn="l">
              <a:lnSpc>
                <a:spcPct val="100000"/>
              </a:lnSpc>
              <a:spcBef>
                <a:spcPts val="640"/>
              </a:spcBef>
              <a:spcAft>
                <a:spcPts val="0"/>
              </a:spcAft>
              <a:buClr>
                <a:schemeClr val="dk1"/>
              </a:buClr>
              <a:buSzPts val="3200"/>
              <a:buFont typeface="Arial"/>
              <a:buChar char="•"/>
            </a:pPr>
            <a:r>
              <a:rPr lang="en-IN"/>
              <a:t>Summarize main characteristics</a:t>
            </a:r>
            <a:endParaRPr/>
          </a:p>
          <a:p>
            <a:pPr indent="-431800" lvl="0" marL="457200" marR="0" rtl="0" algn="l">
              <a:lnSpc>
                <a:spcPct val="100000"/>
              </a:lnSpc>
              <a:spcBef>
                <a:spcPts val="640"/>
              </a:spcBef>
              <a:spcAft>
                <a:spcPts val="0"/>
              </a:spcAft>
              <a:buClr>
                <a:schemeClr val="dk1"/>
              </a:buClr>
              <a:buSzPts val="3200"/>
              <a:buFont typeface="Arial"/>
              <a:buChar char="•"/>
            </a:pPr>
            <a:r>
              <a:rPr lang="en-IN"/>
              <a:t>Detect anomalies</a:t>
            </a:r>
            <a:endParaRPr/>
          </a:p>
          <a:p>
            <a:pPr indent="-431800" lvl="0" marL="457200" marR="0" rtl="0" algn="l">
              <a:lnSpc>
                <a:spcPct val="100000"/>
              </a:lnSpc>
              <a:spcBef>
                <a:spcPts val="640"/>
              </a:spcBef>
              <a:spcAft>
                <a:spcPts val="0"/>
              </a:spcAft>
              <a:buClr>
                <a:schemeClr val="dk1"/>
              </a:buClr>
              <a:buSzPts val="3200"/>
              <a:buFont typeface="Arial"/>
              <a:buChar char="•"/>
            </a:pPr>
            <a:r>
              <a:rPr lang="en-IN"/>
              <a:t>Visualise patterns / trends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609600" y="274625"/>
            <a:ext cx="7644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sz="3600"/>
              <a:t>Where does EDA sit in the Data Science Landscape?</a:t>
            </a:r>
            <a:endParaRPr/>
          </a:p>
        </p:txBody>
      </p:sp>
      <p:grpSp>
        <p:nvGrpSpPr>
          <p:cNvPr id="117" name="Google Shape;117;p5"/>
          <p:cNvGrpSpPr/>
          <p:nvPr/>
        </p:nvGrpSpPr>
        <p:grpSpPr>
          <a:xfrm>
            <a:off x="846261" y="1831604"/>
            <a:ext cx="10499446" cy="4339361"/>
            <a:chOff x="8061" y="5979"/>
            <a:chExt cx="10499446" cy="4339361"/>
          </a:xfrm>
        </p:grpSpPr>
        <p:sp>
          <p:nvSpPr>
            <p:cNvPr id="118" name="Google Shape;118;p5"/>
            <p:cNvSpPr/>
            <p:nvPr/>
          </p:nvSpPr>
          <p:spPr>
            <a:xfrm>
              <a:off x="3040792" y="870618"/>
              <a:ext cx="667200" cy="91500"/>
            </a:xfrm>
            <a:custGeom>
              <a:rect b="b" l="l" r="r" t="t"/>
              <a:pathLst>
                <a:path extrusionOk="0" h="120000" w="120000">
                  <a:moveTo>
                    <a:pt x="0" y="60000"/>
                  </a:moveTo>
                  <a:lnTo>
                    <a:pt x="120000" y="60000"/>
                  </a:lnTo>
                </a:path>
              </a:pathLst>
            </a:custGeom>
            <a:noFill/>
            <a:ln cap="flat" cmpd="sng" w="9525">
              <a:solidFill>
                <a:schemeClr val="dk1"/>
              </a:solidFill>
              <a:prstDash val="solid"/>
              <a:round/>
              <a:headEnd len="sm" w="sm" type="none"/>
              <a:tailEnd len="med" w="med" type="stealth"/>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
            <p:cNvSpPr txBox="1"/>
            <p:nvPr/>
          </p:nvSpPr>
          <p:spPr>
            <a:xfrm>
              <a:off x="3357014" y="912848"/>
              <a:ext cx="34800" cy="69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20" name="Google Shape;120;p5"/>
            <p:cNvSpPr/>
            <p:nvPr/>
          </p:nvSpPr>
          <p:spPr>
            <a:xfrm>
              <a:off x="8061" y="5979"/>
              <a:ext cx="3034500" cy="18207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
            <p:cNvSpPr txBox="1"/>
            <p:nvPr/>
          </p:nvSpPr>
          <p:spPr>
            <a:xfrm>
              <a:off x="8061" y="5979"/>
              <a:ext cx="3034500" cy="1820700"/>
            </a:xfrm>
            <a:prstGeom prst="rect">
              <a:avLst/>
            </a:prstGeom>
            <a:noFill/>
            <a:ln>
              <a:noFill/>
            </a:ln>
          </p:spPr>
          <p:txBody>
            <a:bodyPr anchorCtr="0" anchor="ctr" bIns="234675" lIns="234675" spcFirstLastPara="1" rIns="234675" wrap="square" tIns="234675">
              <a:noAutofit/>
            </a:bodyPr>
            <a:lstStyle/>
            <a:p>
              <a:pPr indent="0" lvl="0" marL="0" marR="0" rtl="0" algn="ctr">
                <a:lnSpc>
                  <a:spcPct val="90000"/>
                </a:lnSpc>
                <a:spcBef>
                  <a:spcPts val="0"/>
                </a:spcBef>
                <a:spcAft>
                  <a:spcPts val="0"/>
                </a:spcAft>
                <a:buClr>
                  <a:srgbClr val="000000"/>
                </a:buClr>
                <a:buSzPts val="3300"/>
                <a:buFont typeface="Arial"/>
                <a:buNone/>
              </a:pPr>
              <a:r>
                <a:rPr b="0" i="0" lang="en-IN" sz="3300" u="none" cap="none" strike="noStrike">
                  <a:solidFill>
                    <a:schemeClr val="lt1"/>
                  </a:solidFill>
                  <a:latin typeface="Arial"/>
                  <a:ea typeface="Arial"/>
                  <a:cs typeface="Arial"/>
                  <a:sym typeface="Arial"/>
                </a:rPr>
                <a:t>Business problem / situation</a:t>
              </a:r>
              <a:endParaRPr b="0" i="0" sz="1400" u="none" cap="none" strike="noStrike">
                <a:solidFill>
                  <a:srgbClr val="000000"/>
                </a:solidFill>
                <a:latin typeface="Arial"/>
                <a:ea typeface="Arial"/>
                <a:cs typeface="Arial"/>
                <a:sym typeface="Arial"/>
              </a:endParaRPr>
            </a:p>
          </p:txBody>
        </p:sp>
        <p:sp>
          <p:nvSpPr>
            <p:cNvPr id="122" name="Google Shape;122;p5"/>
            <p:cNvSpPr/>
            <p:nvPr/>
          </p:nvSpPr>
          <p:spPr>
            <a:xfrm>
              <a:off x="6773265" y="870618"/>
              <a:ext cx="667200" cy="91500"/>
            </a:xfrm>
            <a:custGeom>
              <a:rect b="b" l="l" r="r" t="t"/>
              <a:pathLst>
                <a:path extrusionOk="0" h="120000" w="120000">
                  <a:moveTo>
                    <a:pt x="0" y="60000"/>
                  </a:moveTo>
                  <a:lnTo>
                    <a:pt x="120000" y="60000"/>
                  </a:lnTo>
                </a:path>
              </a:pathLst>
            </a:custGeom>
            <a:noFill/>
            <a:ln cap="flat" cmpd="sng" w="9525">
              <a:solidFill>
                <a:schemeClr val="dk1"/>
              </a:solidFill>
              <a:prstDash val="solid"/>
              <a:round/>
              <a:headEnd len="sm" w="sm" type="none"/>
              <a:tailEnd len="med" w="med" type="stealth"/>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
            <p:cNvSpPr txBox="1"/>
            <p:nvPr/>
          </p:nvSpPr>
          <p:spPr>
            <a:xfrm>
              <a:off x="7089488" y="912848"/>
              <a:ext cx="34800" cy="69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24" name="Google Shape;124;p5"/>
            <p:cNvSpPr/>
            <p:nvPr/>
          </p:nvSpPr>
          <p:spPr>
            <a:xfrm>
              <a:off x="3740534" y="5979"/>
              <a:ext cx="3034500" cy="18207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5"/>
            <p:cNvSpPr txBox="1"/>
            <p:nvPr/>
          </p:nvSpPr>
          <p:spPr>
            <a:xfrm>
              <a:off x="3740534" y="5979"/>
              <a:ext cx="3034500" cy="1820700"/>
            </a:xfrm>
            <a:prstGeom prst="rect">
              <a:avLst/>
            </a:prstGeom>
            <a:noFill/>
            <a:ln>
              <a:noFill/>
            </a:ln>
          </p:spPr>
          <p:txBody>
            <a:bodyPr anchorCtr="0" anchor="ctr" bIns="234675" lIns="234675" spcFirstLastPara="1" rIns="234675" wrap="square" tIns="234675">
              <a:noAutofit/>
            </a:bodyPr>
            <a:lstStyle/>
            <a:p>
              <a:pPr indent="0" lvl="0" marL="0" marR="0" rtl="0" algn="ctr">
                <a:lnSpc>
                  <a:spcPct val="90000"/>
                </a:lnSpc>
                <a:spcBef>
                  <a:spcPts val="0"/>
                </a:spcBef>
                <a:spcAft>
                  <a:spcPts val="0"/>
                </a:spcAft>
                <a:buClr>
                  <a:srgbClr val="000000"/>
                </a:buClr>
                <a:buSzPts val="3300"/>
                <a:buFont typeface="Arial"/>
                <a:buNone/>
              </a:pPr>
              <a:r>
                <a:rPr b="0" i="0" lang="en-IN" sz="3300" u="none" cap="none" strike="noStrike">
                  <a:solidFill>
                    <a:schemeClr val="lt1"/>
                  </a:solidFill>
                  <a:latin typeface="Arial"/>
                  <a:ea typeface="Arial"/>
                  <a:cs typeface="Arial"/>
                  <a:sym typeface="Arial"/>
                </a:rPr>
                <a:t>Raw data collected</a:t>
              </a:r>
              <a:endParaRPr b="0" i="0" sz="1400" u="none" cap="none" strike="noStrike">
                <a:solidFill>
                  <a:srgbClr val="000000"/>
                </a:solidFill>
                <a:latin typeface="Arial"/>
                <a:ea typeface="Arial"/>
                <a:cs typeface="Arial"/>
                <a:sym typeface="Arial"/>
              </a:endParaRPr>
            </a:p>
          </p:txBody>
        </p:sp>
        <p:sp>
          <p:nvSpPr>
            <p:cNvPr id="126" name="Google Shape;126;p5"/>
            <p:cNvSpPr/>
            <p:nvPr/>
          </p:nvSpPr>
          <p:spPr>
            <a:xfrm>
              <a:off x="1525326" y="1824897"/>
              <a:ext cx="7464900" cy="667200"/>
            </a:xfrm>
            <a:custGeom>
              <a:rect b="b" l="l" r="r" t="t"/>
              <a:pathLst>
                <a:path extrusionOk="0" h="120000" w="120000">
                  <a:moveTo>
                    <a:pt x="120000" y="0"/>
                  </a:moveTo>
                  <a:lnTo>
                    <a:pt x="120000" y="63075"/>
                  </a:lnTo>
                  <a:lnTo>
                    <a:pt x="0" y="63075"/>
                  </a:lnTo>
                  <a:lnTo>
                    <a:pt x="0" y="120000"/>
                  </a:lnTo>
                </a:path>
              </a:pathLst>
            </a:custGeom>
            <a:noFill/>
            <a:ln cap="flat" cmpd="sng" w="9525">
              <a:solidFill>
                <a:schemeClr val="dk1"/>
              </a:solidFill>
              <a:prstDash val="solid"/>
              <a:round/>
              <a:headEnd len="sm" w="sm" type="none"/>
              <a:tailEnd len="med" w="med" type="stealth"/>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5"/>
            <p:cNvSpPr txBox="1"/>
            <p:nvPr/>
          </p:nvSpPr>
          <p:spPr>
            <a:xfrm>
              <a:off x="5070362" y="2155079"/>
              <a:ext cx="375000" cy="69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28" name="Google Shape;128;p5"/>
            <p:cNvSpPr/>
            <p:nvPr/>
          </p:nvSpPr>
          <p:spPr>
            <a:xfrm>
              <a:off x="7473007" y="5979"/>
              <a:ext cx="3034500" cy="18207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
            <p:cNvSpPr txBox="1"/>
            <p:nvPr/>
          </p:nvSpPr>
          <p:spPr>
            <a:xfrm>
              <a:off x="7473007" y="5979"/>
              <a:ext cx="3034500" cy="1820700"/>
            </a:xfrm>
            <a:prstGeom prst="rect">
              <a:avLst/>
            </a:prstGeom>
            <a:noFill/>
            <a:ln>
              <a:noFill/>
            </a:ln>
          </p:spPr>
          <p:txBody>
            <a:bodyPr anchorCtr="0" anchor="ctr" bIns="234675" lIns="234675" spcFirstLastPara="1" rIns="234675" wrap="square" tIns="234675">
              <a:noAutofit/>
            </a:bodyPr>
            <a:lstStyle/>
            <a:p>
              <a:pPr indent="0" lvl="0" marL="0" marR="0" rtl="0" algn="ctr">
                <a:lnSpc>
                  <a:spcPct val="90000"/>
                </a:lnSpc>
                <a:spcBef>
                  <a:spcPts val="0"/>
                </a:spcBef>
                <a:spcAft>
                  <a:spcPts val="0"/>
                </a:spcAft>
                <a:buClr>
                  <a:srgbClr val="000000"/>
                </a:buClr>
                <a:buSzPts val="3300"/>
                <a:buFont typeface="Arial"/>
                <a:buNone/>
              </a:pPr>
              <a:r>
                <a:rPr b="0" i="0" lang="en-IN" sz="3300" u="none" cap="none" strike="noStrike">
                  <a:solidFill>
                    <a:schemeClr val="lt1"/>
                  </a:solidFill>
                  <a:latin typeface="Arial"/>
                  <a:ea typeface="Arial"/>
                  <a:cs typeface="Arial"/>
                  <a:sym typeface="Arial"/>
                </a:rPr>
                <a:t>Data cleanup / Datapre-processing</a:t>
              </a:r>
              <a:endParaRPr b="0" i="0" sz="1400" u="none" cap="none" strike="noStrike">
                <a:solidFill>
                  <a:srgbClr val="000000"/>
                </a:solidFill>
                <a:latin typeface="Arial"/>
                <a:ea typeface="Arial"/>
                <a:cs typeface="Arial"/>
                <a:sym typeface="Arial"/>
              </a:endParaRPr>
            </a:p>
          </p:txBody>
        </p:sp>
        <p:sp>
          <p:nvSpPr>
            <p:cNvPr id="130" name="Google Shape;130;p5"/>
            <p:cNvSpPr/>
            <p:nvPr/>
          </p:nvSpPr>
          <p:spPr>
            <a:xfrm>
              <a:off x="3040792" y="3389279"/>
              <a:ext cx="667200" cy="91500"/>
            </a:xfrm>
            <a:custGeom>
              <a:rect b="b" l="l" r="r" t="t"/>
              <a:pathLst>
                <a:path extrusionOk="0" h="120000" w="120000">
                  <a:moveTo>
                    <a:pt x="0" y="60000"/>
                  </a:moveTo>
                  <a:lnTo>
                    <a:pt x="120000" y="60000"/>
                  </a:lnTo>
                </a:path>
              </a:pathLst>
            </a:custGeom>
            <a:noFill/>
            <a:ln cap="flat" cmpd="sng" w="9525">
              <a:solidFill>
                <a:schemeClr val="dk1"/>
              </a:solidFill>
              <a:prstDash val="solid"/>
              <a:round/>
              <a:headEnd len="sm" w="sm" type="none"/>
              <a:tailEnd len="med" w="med" type="stealth"/>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
            <p:cNvSpPr txBox="1"/>
            <p:nvPr/>
          </p:nvSpPr>
          <p:spPr>
            <a:xfrm>
              <a:off x="3357014" y="3431509"/>
              <a:ext cx="34800" cy="69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32" name="Google Shape;132;p5"/>
            <p:cNvSpPr/>
            <p:nvPr/>
          </p:nvSpPr>
          <p:spPr>
            <a:xfrm>
              <a:off x="8061" y="2524640"/>
              <a:ext cx="3034500" cy="1820700"/>
            </a:xfrm>
            <a:prstGeom prst="rect">
              <a:avLst/>
            </a:prstGeom>
            <a:gradFill>
              <a:gsLst>
                <a:gs pos="0">
                  <a:srgbClr val="FFBB82"/>
                </a:gs>
                <a:gs pos="35000">
                  <a:srgbClr val="FFCFA8"/>
                </a:gs>
                <a:gs pos="100000">
                  <a:srgbClr val="FFEBD9"/>
                </a:gs>
              </a:gsLst>
              <a:lin ang="16200038" scaled="0"/>
            </a:gradFill>
            <a:ln cap="flat" cmpd="sng" w="9525">
              <a:solidFill>
                <a:srgbClr val="F5913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5"/>
            <p:cNvSpPr txBox="1"/>
            <p:nvPr/>
          </p:nvSpPr>
          <p:spPr>
            <a:xfrm>
              <a:off x="8061" y="2524640"/>
              <a:ext cx="3034500" cy="1820700"/>
            </a:xfrm>
            <a:prstGeom prst="rect">
              <a:avLst/>
            </a:prstGeom>
            <a:noFill/>
            <a:ln>
              <a:noFill/>
            </a:ln>
          </p:spPr>
          <p:txBody>
            <a:bodyPr anchorCtr="0" anchor="ctr" bIns="234675" lIns="234675" spcFirstLastPara="1" rIns="234675" wrap="square" tIns="234675">
              <a:noAutofit/>
            </a:bodyPr>
            <a:lstStyle/>
            <a:p>
              <a:pPr indent="0" lvl="0" marL="0" marR="0" rtl="0" algn="ctr">
                <a:lnSpc>
                  <a:spcPct val="90000"/>
                </a:lnSpc>
                <a:spcBef>
                  <a:spcPts val="0"/>
                </a:spcBef>
                <a:spcAft>
                  <a:spcPts val="0"/>
                </a:spcAft>
                <a:buClr>
                  <a:srgbClr val="000000"/>
                </a:buClr>
                <a:buSzPts val="3300"/>
                <a:buFont typeface="Arial"/>
                <a:buNone/>
              </a:pPr>
              <a:r>
                <a:rPr b="0" i="0" lang="en-IN" sz="3300" u="none" cap="none" strike="noStrike">
                  <a:solidFill>
                    <a:schemeClr val="dk1"/>
                  </a:solidFill>
                  <a:latin typeface="Arial"/>
                  <a:ea typeface="Arial"/>
                  <a:cs typeface="Arial"/>
                  <a:sym typeface="Arial"/>
                </a:rPr>
                <a:t>Exploratory data analysis</a:t>
              </a:r>
              <a:endParaRPr b="0" i="0" sz="1400" u="none" cap="none" strike="noStrike">
                <a:solidFill>
                  <a:srgbClr val="000000"/>
                </a:solidFill>
                <a:latin typeface="Arial"/>
                <a:ea typeface="Arial"/>
                <a:cs typeface="Arial"/>
                <a:sym typeface="Arial"/>
              </a:endParaRPr>
            </a:p>
          </p:txBody>
        </p:sp>
        <p:sp>
          <p:nvSpPr>
            <p:cNvPr id="134" name="Google Shape;134;p5"/>
            <p:cNvSpPr/>
            <p:nvPr/>
          </p:nvSpPr>
          <p:spPr>
            <a:xfrm>
              <a:off x="6773265" y="3389279"/>
              <a:ext cx="667200" cy="91500"/>
            </a:xfrm>
            <a:custGeom>
              <a:rect b="b" l="l" r="r" t="t"/>
              <a:pathLst>
                <a:path extrusionOk="0" h="120000" w="120000">
                  <a:moveTo>
                    <a:pt x="0" y="60000"/>
                  </a:moveTo>
                  <a:lnTo>
                    <a:pt x="120000" y="60000"/>
                  </a:lnTo>
                </a:path>
              </a:pathLst>
            </a:custGeom>
            <a:noFill/>
            <a:ln cap="flat" cmpd="sng" w="9525">
              <a:solidFill>
                <a:schemeClr val="dk1"/>
              </a:solidFill>
              <a:prstDash val="solid"/>
              <a:round/>
              <a:headEnd len="sm" w="sm" type="none"/>
              <a:tailEnd len="med" w="med" type="stealth"/>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5"/>
            <p:cNvSpPr txBox="1"/>
            <p:nvPr/>
          </p:nvSpPr>
          <p:spPr>
            <a:xfrm>
              <a:off x="7089488" y="3431509"/>
              <a:ext cx="34800" cy="69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36" name="Google Shape;136;p5"/>
            <p:cNvSpPr/>
            <p:nvPr/>
          </p:nvSpPr>
          <p:spPr>
            <a:xfrm>
              <a:off x="3740534" y="2524640"/>
              <a:ext cx="3034500" cy="18207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5"/>
            <p:cNvSpPr txBox="1"/>
            <p:nvPr/>
          </p:nvSpPr>
          <p:spPr>
            <a:xfrm>
              <a:off x="3740534" y="2524640"/>
              <a:ext cx="3034500" cy="1820700"/>
            </a:xfrm>
            <a:prstGeom prst="rect">
              <a:avLst/>
            </a:prstGeom>
            <a:noFill/>
            <a:ln>
              <a:noFill/>
            </a:ln>
          </p:spPr>
          <p:txBody>
            <a:bodyPr anchorCtr="0" anchor="ctr" bIns="234675" lIns="234675" spcFirstLastPara="1" rIns="234675" wrap="square" tIns="234675">
              <a:noAutofit/>
            </a:bodyPr>
            <a:lstStyle/>
            <a:p>
              <a:pPr indent="0" lvl="0" marL="0" marR="0" rtl="0" algn="ctr">
                <a:lnSpc>
                  <a:spcPct val="90000"/>
                </a:lnSpc>
                <a:spcBef>
                  <a:spcPts val="0"/>
                </a:spcBef>
                <a:spcAft>
                  <a:spcPts val="0"/>
                </a:spcAft>
                <a:buClr>
                  <a:srgbClr val="000000"/>
                </a:buClr>
                <a:buSzPts val="3300"/>
                <a:buFont typeface="Arial"/>
                <a:buNone/>
              </a:pPr>
              <a:r>
                <a:rPr b="0" i="0" lang="en-IN" sz="3300" u="none" cap="none" strike="noStrike">
                  <a:solidFill>
                    <a:schemeClr val="lt1"/>
                  </a:solidFill>
                  <a:latin typeface="Arial"/>
                  <a:ea typeface="Arial"/>
                  <a:cs typeface="Arial"/>
                  <a:sym typeface="Arial"/>
                </a:rPr>
                <a:t>Model buildingModel</a:t>
              </a:r>
              <a:endParaRPr b="0" i="0" sz="1400" u="none" cap="none" strike="noStrike">
                <a:solidFill>
                  <a:srgbClr val="000000"/>
                </a:solidFill>
                <a:latin typeface="Arial"/>
                <a:ea typeface="Arial"/>
                <a:cs typeface="Arial"/>
                <a:sym typeface="Arial"/>
              </a:endParaRPr>
            </a:p>
          </p:txBody>
        </p:sp>
        <p:sp>
          <p:nvSpPr>
            <p:cNvPr id="138" name="Google Shape;138;p5"/>
            <p:cNvSpPr/>
            <p:nvPr/>
          </p:nvSpPr>
          <p:spPr>
            <a:xfrm>
              <a:off x="7473007" y="2524640"/>
              <a:ext cx="3034500" cy="18207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5"/>
            <p:cNvSpPr txBox="1"/>
            <p:nvPr/>
          </p:nvSpPr>
          <p:spPr>
            <a:xfrm>
              <a:off x="7473007" y="2524640"/>
              <a:ext cx="3034500" cy="1820700"/>
            </a:xfrm>
            <a:prstGeom prst="rect">
              <a:avLst/>
            </a:prstGeom>
            <a:noFill/>
            <a:ln>
              <a:noFill/>
            </a:ln>
          </p:spPr>
          <p:txBody>
            <a:bodyPr anchorCtr="0" anchor="ctr" bIns="234675" lIns="234675" spcFirstLastPara="1" rIns="234675" wrap="square" tIns="234675">
              <a:noAutofit/>
            </a:bodyPr>
            <a:lstStyle/>
            <a:p>
              <a:pPr indent="0" lvl="0" marL="0" marR="0" rtl="0" algn="ctr">
                <a:lnSpc>
                  <a:spcPct val="90000"/>
                </a:lnSpc>
                <a:spcBef>
                  <a:spcPts val="0"/>
                </a:spcBef>
                <a:spcAft>
                  <a:spcPts val="0"/>
                </a:spcAft>
                <a:buClr>
                  <a:srgbClr val="000000"/>
                </a:buClr>
                <a:buSzPts val="3300"/>
                <a:buFont typeface="Arial"/>
                <a:buNone/>
              </a:pPr>
              <a:r>
                <a:rPr b="0" i="0" lang="en-IN" sz="3300" u="none" cap="none" strike="noStrike">
                  <a:solidFill>
                    <a:schemeClr val="lt1"/>
                  </a:solidFill>
                  <a:latin typeface="Arial"/>
                  <a:ea typeface="Arial"/>
                  <a:cs typeface="Arial"/>
                  <a:sym typeface="Arial"/>
                </a:rPr>
                <a:t>Reporting &amp; product development</a:t>
              </a:r>
              <a:endParaRPr b="0" i="0" sz="1400" u="none" cap="none" strike="noStrike">
                <a:solidFill>
                  <a:srgbClr val="000000"/>
                </a:solidFill>
                <a:latin typeface="Arial"/>
                <a:ea typeface="Arial"/>
                <a:cs typeface="Arial"/>
                <a:sym typeface="Arial"/>
              </a:endParaRPr>
            </a:p>
          </p:txBody>
        </p:sp>
      </p:grpSp>
      <p:sp>
        <p:nvSpPr>
          <p:cNvPr id="140" name="Google Shape;140;p5"/>
          <p:cNvSpPr txBox="1"/>
          <p:nvPr/>
        </p:nvSpPr>
        <p:spPr>
          <a:xfrm>
            <a:off x="8747350" y="2421850"/>
            <a:ext cx="1972500" cy="53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Candara"/>
                <a:ea typeface="Candara"/>
                <a:cs typeface="Candara"/>
                <a:sym typeface="Candara"/>
              </a:rPr>
              <a:t>Data visualization</a:t>
            </a:r>
            <a:endParaRPr b="0" i="0" sz="1800" u="none" cap="none" strike="noStrike">
              <a:solidFill>
                <a:srgbClr val="000000"/>
              </a:solidFill>
              <a:latin typeface="Candara"/>
              <a:ea typeface="Candara"/>
              <a:cs typeface="Candara"/>
              <a:sym typeface="Candara"/>
            </a:endParaRPr>
          </a:p>
        </p:txBody>
      </p:sp>
      <p:sp>
        <p:nvSpPr>
          <p:cNvPr id="141" name="Google Shape;141;p5"/>
          <p:cNvSpPr txBox="1"/>
          <p:nvPr/>
        </p:nvSpPr>
        <p:spPr>
          <a:xfrm>
            <a:off x="5220450" y="4933600"/>
            <a:ext cx="1972500" cy="53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Candara"/>
                <a:ea typeface="Candara"/>
                <a:cs typeface="Candara"/>
                <a:sym typeface="Candara"/>
              </a:rPr>
              <a:t>Model selection</a:t>
            </a:r>
            <a:endParaRPr b="0" i="0" sz="1800" u="none" cap="none" strike="noStrike">
              <a:solidFill>
                <a:srgbClr val="000000"/>
              </a:solidFill>
              <a:latin typeface="Candara"/>
              <a:ea typeface="Candara"/>
              <a:cs typeface="Candara"/>
              <a:sym typeface="Candara"/>
            </a:endParaRPr>
          </a:p>
        </p:txBody>
      </p:sp>
      <p:sp>
        <p:nvSpPr>
          <p:cNvPr id="142" name="Google Shape;142;p5"/>
          <p:cNvSpPr txBox="1"/>
          <p:nvPr/>
        </p:nvSpPr>
        <p:spPr>
          <a:xfrm>
            <a:off x="8892875" y="4994300"/>
            <a:ext cx="1531800" cy="53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Candara"/>
                <a:ea typeface="Candara"/>
                <a:cs typeface="Candara"/>
                <a:sym typeface="Candara"/>
              </a:rPr>
              <a:t>Model Tuning</a:t>
            </a:r>
            <a:endParaRPr b="0" i="0" sz="1800" u="none" cap="none" strike="noStrike">
              <a:solidFill>
                <a:srgbClr val="000000"/>
              </a:solidFill>
              <a:latin typeface="Candara"/>
              <a:ea typeface="Candara"/>
              <a:cs typeface="Candara"/>
              <a:sym typeface="Candara"/>
            </a:endParaRPr>
          </a:p>
        </p:txBody>
      </p:sp>
      <p:sp>
        <p:nvSpPr>
          <p:cNvPr id="143" name="Google Shape;143;p5"/>
          <p:cNvSpPr txBox="1"/>
          <p:nvPr/>
        </p:nvSpPr>
        <p:spPr>
          <a:xfrm>
            <a:off x="5145250" y="2535650"/>
            <a:ext cx="1531800" cy="53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ndara"/>
              <a:ea typeface="Candara"/>
              <a:cs typeface="Candara"/>
              <a:sym typeface="Candara"/>
            </a:endParaRPr>
          </a:p>
        </p:txBody>
      </p:sp>
      <p:sp>
        <p:nvSpPr>
          <p:cNvPr id="144" name="Google Shape;144;p5"/>
          <p:cNvSpPr txBox="1"/>
          <p:nvPr/>
        </p:nvSpPr>
        <p:spPr>
          <a:xfrm>
            <a:off x="1292100" y="2459800"/>
            <a:ext cx="2152500" cy="53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Candara"/>
                <a:ea typeface="Candara"/>
                <a:cs typeface="Candara"/>
                <a:sym typeface="Candara"/>
              </a:rPr>
              <a:t>Problem definition</a:t>
            </a:r>
            <a:endParaRPr b="0" i="0" sz="1800" u="none" cap="none" strike="noStrike">
              <a:solidFill>
                <a:srgbClr val="000000"/>
              </a:solidFill>
              <a:latin typeface="Candara"/>
              <a:ea typeface="Candara"/>
              <a:cs typeface="Candara"/>
              <a:sym typeface="Candara"/>
            </a:endParaRPr>
          </a:p>
        </p:txBody>
      </p:sp>
      <p:sp>
        <p:nvSpPr>
          <p:cNvPr id="145" name="Google Shape;145;p5"/>
          <p:cNvSpPr txBox="1"/>
          <p:nvPr/>
        </p:nvSpPr>
        <p:spPr>
          <a:xfrm>
            <a:off x="4970375" y="2421850"/>
            <a:ext cx="2251200" cy="606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Candara"/>
                <a:ea typeface="Candara"/>
                <a:cs typeface="Candara"/>
                <a:sym typeface="Candara"/>
              </a:rPr>
              <a:t>Hypothesis testing</a:t>
            </a:r>
            <a:endParaRPr b="0" i="0" sz="1800" u="none" cap="none" strike="noStrike">
              <a:solidFill>
                <a:srgbClr val="000000"/>
              </a:solidFill>
              <a:latin typeface="Candara"/>
              <a:ea typeface="Candara"/>
              <a:cs typeface="Candara"/>
              <a:sym typeface="Canda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Where does EDA sit in the Analytics life cycle</a:t>
            </a:r>
            <a:endParaRPr/>
          </a:p>
        </p:txBody>
      </p:sp>
      <p:sp>
        <p:nvSpPr>
          <p:cNvPr id="151" name="Google Shape;151;p6"/>
          <p:cNvSpPr txBox="1"/>
          <p:nvPr>
            <p:ph idx="12" type="sldNum"/>
          </p:nvPr>
        </p:nvSpPr>
        <p:spPr>
          <a:xfrm>
            <a:off x="4165600" y="6477000"/>
            <a:ext cx="3860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595959"/>
                </a:solidFill>
                <a:latin typeface="Candara"/>
                <a:ea typeface="Candara"/>
                <a:cs typeface="Candara"/>
                <a:sym typeface="Candara"/>
              </a:rPr>
              <a:t>‹#›</a:t>
            </a:fld>
            <a:endParaRPr b="0" i="0" sz="1400" u="none" cap="none" strike="noStrike">
              <a:solidFill>
                <a:srgbClr val="595959"/>
              </a:solidFill>
              <a:latin typeface="Candara"/>
              <a:ea typeface="Candara"/>
              <a:cs typeface="Candara"/>
              <a:sym typeface="Candara"/>
            </a:endParaRPr>
          </a:p>
        </p:txBody>
      </p:sp>
      <p:grpSp>
        <p:nvGrpSpPr>
          <p:cNvPr id="152" name="Google Shape;152;p6"/>
          <p:cNvGrpSpPr/>
          <p:nvPr/>
        </p:nvGrpSpPr>
        <p:grpSpPr>
          <a:xfrm>
            <a:off x="3795925" y="1873700"/>
            <a:ext cx="4598765" cy="3976185"/>
            <a:chOff x="3795925" y="1873700"/>
            <a:chExt cx="4598765" cy="3976185"/>
          </a:xfrm>
        </p:grpSpPr>
        <p:sp>
          <p:nvSpPr>
            <p:cNvPr id="153" name="Google Shape;153;p6"/>
            <p:cNvSpPr/>
            <p:nvPr/>
          </p:nvSpPr>
          <p:spPr>
            <a:xfrm>
              <a:off x="5433650" y="1873700"/>
              <a:ext cx="1493621" cy="861067"/>
            </a:xfrm>
            <a:custGeom>
              <a:rect b="b" l="l" r="r" t="t"/>
              <a:pathLst>
                <a:path extrusionOk="0" h="861067" w="1324719">
                  <a:moveTo>
                    <a:pt x="0" y="143514"/>
                  </a:moveTo>
                  <a:cubicBezTo>
                    <a:pt x="0" y="64253"/>
                    <a:pt x="64253" y="0"/>
                    <a:pt x="143514" y="0"/>
                  </a:cubicBezTo>
                  <a:lnTo>
                    <a:pt x="1181205" y="0"/>
                  </a:lnTo>
                  <a:cubicBezTo>
                    <a:pt x="1260466" y="0"/>
                    <a:pt x="1324719" y="64253"/>
                    <a:pt x="1324719" y="143514"/>
                  </a:cubicBezTo>
                  <a:lnTo>
                    <a:pt x="1324719" y="717553"/>
                  </a:lnTo>
                  <a:cubicBezTo>
                    <a:pt x="1324719" y="796814"/>
                    <a:pt x="1260466" y="861067"/>
                    <a:pt x="1181205" y="861067"/>
                  </a:cubicBezTo>
                  <a:lnTo>
                    <a:pt x="143514" y="861067"/>
                  </a:lnTo>
                  <a:cubicBezTo>
                    <a:pt x="64253" y="861067"/>
                    <a:pt x="0" y="796814"/>
                    <a:pt x="0" y="717553"/>
                  </a:cubicBezTo>
                  <a:lnTo>
                    <a:pt x="0" y="143514"/>
                  </a:lnTo>
                  <a:close/>
                </a:path>
              </a:pathLst>
            </a:cu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254"/>
                </a:srgbClr>
              </a:outerShdw>
            </a:effectLst>
          </p:spPr>
          <p:txBody>
            <a:bodyPr anchorCtr="0" anchor="ctr" bIns="110600" lIns="110600" spcFirstLastPara="1" rIns="110600" wrap="square" tIns="110600">
              <a:noAutofit/>
            </a:bodyPr>
            <a:lstStyle/>
            <a:p>
              <a:pPr indent="0" lvl="0" marL="0" marR="0" rtl="0" algn="ctr">
                <a:lnSpc>
                  <a:spcPct val="9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Data / information</a:t>
              </a:r>
              <a:endParaRPr b="0" i="0" sz="1400" u="none" cap="none" strike="noStrike">
                <a:solidFill>
                  <a:srgbClr val="000000"/>
                </a:solidFill>
                <a:latin typeface="Arial"/>
                <a:ea typeface="Arial"/>
                <a:cs typeface="Arial"/>
                <a:sym typeface="Arial"/>
              </a:endParaRPr>
            </a:p>
          </p:txBody>
        </p:sp>
        <p:sp>
          <p:nvSpPr>
            <p:cNvPr id="154" name="Google Shape;154;p6"/>
            <p:cNvSpPr/>
            <p:nvPr/>
          </p:nvSpPr>
          <p:spPr>
            <a:xfrm>
              <a:off x="4374005" y="2304235"/>
              <a:ext cx="3443988" cy="3443988"/>
            </a:xfrm>
            <a:custGeom>
              <a:rect b="b" l="l" r="r" t="t"/>
              <a:pathLst>
                <a:path extrusionOk="0" h="120000" w="120000">
                  <a:moveTo>
                    <a:pt x="89277" y="7627"/>
                  </a:moveTo>
                  <a:lnTo>
                    <a:pt x="89277" y="7627"/>
                  </a:lnTo>
                  <a:cubicBezTo>
                    <a:pt x="95454" y="11080"/>
                    <a:pt x="100972" y="15599"/>
                    <a:pt x="105575" y="20975"/>
                  </a:cubicBezTo>
                </a:path>
              </a:pathLst>
            </a:custGeom>
            <a:noFill/>
            <a:ln cap="flat" cmpd="sng" w="9525">
              <a:solidFill>
                <a:srgbClr val="BC4B4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6"/>
            <p:cNvSpPr/>
            <p:nvPr/>
          </p:nvSpPr>
          <p:spPr>
            <a:xfrm>
              <a:off x="6811650" y="3063575"/>
              <a:ext cx="1583039" cy="861067"/>
            </a:xfrm>
            <a:custGeom>
              <a:rect b="b" l="l" r="r" t="t"/>
              <a:pathLst>
                <a:path extrusionOk="0" h="861067" w="1324719">
                  <a:moveTo>
                    <a:pt x="0" y="143514"/>
                  </a:moveTo>
                  <a:cubicBezTo>
                    <a:pt x="0" y="64253"/>
                    <a:pt x="64253" y="0"/>
                    <a:pt x="143514" y="0"/>
                  </a:cubicBezTo>
                  <a:lnTo>
                    <a:pt x="1181205" y="0"/>
                  </a:lnTo>
                  <a:cubicBezTo>
                    <a:pt x="1260466" y="0"/>
                    <a:pt x="1324719" y="64253"/>
                    <a:pt x="1324719" y="143514"/>
                  </a:cubicBezTo>
                  <a:lnTo>
                    <a:pt x="1324719" y="717553"/>
                  </a:lnTo>
                  <a:cubicBezTo>
                    <a:pt x="1324719" y="796814"/>
                    <a:pt x="1260466" y="861067"/>
                    <a:pt x="1181205" y="861067"/>
                  </a:cubicBezTo>
                  <a:lnTo>
                    <a:pt x="143514" y="861067"/>
                  </a:lnTo>
                  <a:cubicBezTo>
                    <a:pt x="64253" y="861067"/>
                    <a:pt x="0" y="796814"/>
                    <a:pt x="0" y="717553"/>
                  </a:cubicBezTo>
                  <a:lnTo>
                    <a:pt x="0" y="143514"/>
                  </a:lnTo>
                  <a:close/>
                </a:path>
              </a:pathLst>
            </a:custGeom>
            <a:gradFill>
              <a:gsLst>
                <a:gs pos="0">
                  <a:srgbClr val="DAFEA4"/>
                </a:gs>
                <a:gs pos="35000">
                  <a:srgbClr val="E3FEBF"/>
                </a:gs>
                <a:gs pos="100000">
                  <a:srgbClr val="F4FEE6"/>
                </a:gs>
              </a:gsLst>
              <a:lin ang="16200000" scaled="0"/>
            </a:gradFill>
            <a:ln>
              <a:noFill/>
            </a:ln>
            <a:effectLst>
              <a:outerShdw blurRad="40000" rotWithShape="0" dir="5400000" dist="20000">
                <a:srgbClr val="000000">
                  <a:alpha val="37254"/>
                </a:srgbClr>
              </a:outerShdw>
            </a:effectLst>
          </p:spPr>
          <p:txBody>
            <a:bodyPr anchorCtr="0" anchor="ctr" bIns="110600" lIns="110600" spcFirstLastPara="1" rIns="110600" wrap="square" tIns="110600">
              <a:noAutofit/>
            </a:bodyPr>
            <a:lstStyle/>
            <a:p>
              <a:pPr indent="0" lvl="0" marL="0" marR="0" rtl="0" algn="ctr">
                <a:lnSpc>
                  <a:spcPct val="9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Descriptive analytics</a:t>
              </a:r>
              <a:endParaRPr b="0" i="0" sz="1400" u="none" cap="none" strike="noStrike">
                <a:solidFill>
                  <a:srgbClr val="000000"/>
                </a:solidFill>
                <a:latin typeface="Arial"/>
                <a:ea typeface="Arial"/>
                <a:cs typeface="Arial"/>
                <a:sym typeface="Arial"/>
              </a:endParaRPr>
            </a:p>
          </p:txBody>
        </p:sp>
        <p:sp>
          <p:nvSpPr>
            <p:cNvPr id="156" name="Google Shape;156;p6"/>
            <p:cNvSpPr/>
            <p:nvPr/>
          </p:nvSpPr>
          <p:spPr>
            <a:xfrm>
              <a:off x="4374005" y="2304235"/>
              <a:ext cx="3443988" cy="3443988"/>
            </a:xfrm>
            <a:custGeom>
              <a:rect b="b" l="l" r="r" t="t"/>
              <a:pathLst>
                <a:path extrusionOk="0" h="120000" w="120000">
                  <a:moveTo>
                    <a:pt x="119857" y="64143"/>
                  </a:moveTo>
                  <a:cubicBezTo>
                    <a:pt x="119308" y="72068"/>
                    <a:pt x="117191" y="79806"/>
                    <a:pt x="113629" y="86907"/>
                  </a:cubicBezTo>
                </a:path>
              </a:pathLst>
            </a:custGeom>
            <a:noFill/>
            <a:ln cap="flat" cmpd="sng" w="9525">
              <a:solidFill>
                <a:srgbClr val="97B85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6"/>
            <p:cNvSpPr/>
            <p:nvPr/>
          </p:nvSpPr>
          <p:spPr>
            <a:xfrm>
              <a:off x="6445803" y="4988818"/>
              <a:ext cx="1324719" cy="861067"/>
            </a:xfrm>
            <a:custGeom>
              <a:rect b="b" l="l" r="r" t="t"/>
              <a:pathLst>
                <a:path extrusionOk="0" h="861067" w="1324719">
                  <a:moveTo>
                    <a:pt x="0" y="143514"/>
                  </a:moveTo>
                  <a:cubicBezTo>
                    <a:pt x="0" y="64253"/>
                    <a:pt x="64253" y="0"/>
                    <a:pt x="143514" y="0"/>
                  </a:cubicBezTo>
                  <a:lnTo>
                    <a:pt x="1181205" y="0"/>
                  </a:lnTo>
                  <a:cubicBezTo>
                    <a:pt x="1260466" y="0"/>
                    <a:pt x="1324719" y="64253"/>
                    <a:pt x="1324719" y="143514"/>
                  </a:cubicBezTo>
                  <a:lnTo>
                    <a:pt x="1324719" y="717553"/>
                  </a:lnTo>
                  <a:cubicBezTo>
                    <a:pt x="1324719" y="796814"/>
                    <a:pt x="1260466" y="861067"/>
                    <a:pt x="1181205" y="861067"/>
                  </a:cubicBezTo>
                  <a:lnTo>
                    <a:pt x="143514" y="861067"/>
                  </a:lnTo>
                  <a:cubicBezTo>
                    <a:pt x="64253" y="861067"/>
                    <a:pt x="0" y="796814"/>
                    <a:pt x="0" y="717553"/>
                  </a:cubicBezTo>
                  <a:lnTo>
                    <a:pt x="0" y="143514"/>
                  </a:lnTo>
                  <a:close/>
                </a:path>
              </a:pathLst>
            </a:custGeom>
            <a:gradFill>
              <a:gsLst>
                <a:gs pos="0">
                  <a:srgbClr val="C8B2E9"/>
                </a:gs>
                <a:gs pos="35000">
                  <a:srgbClr val="D6CAED"/>
                </a:gs>
                <a:gs pos="100000">
                  <a:srgbClr val="EFE8FA"/>
                </a:gs>
              </a:gsLst>
              <a:lin ang="16200000" scaled="0"/>
            </a:gradFill>
            <a:ln>
              <a:noFill/>
            </a:ln>
            <a:effectLst>
              <a:outerShdw blurRad="40000" rotWithShape="0" dir="5400000" dist="20000">
                <a:srgbClr val="000000">
                  <a:alpha val="37254"/>
                </a:srgbClr>
              </a:outerShdw>
            </a:effectLst>
          </p:spPr>
          <p:txBody>
            <a:bodyPr anchorCtr="0" anchor="ctr" bIns="110600" lIns="110600" spcFirstLastPara="1" rIns="110600" wrap="square" tIns="110600">
              <a:noAutofit/>
            </a:bodyPr>
            <a:lstStyle/>
            <a:p>
              <a:pPr indent="0" lvl="0" marL="0" marR="0" rtl="0" algn="ctr">
                <a:lnSpc>
                  <a:spcPct val="9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Diagnostic analytics</a:t>
              </a:r>
              <a:endParaRPr b="0" i="0" sz="1400" u="none" cap="none" strike="noStrike">
                <a:solidFill>
                  <a:srgbClr val="000000"/>
                </a:solidFill>
                <a:latin typeface="Arial"/>
                <a:ea typeface="Arial"/>
                <a:cs typeface="Arial"/>
                <a:sym typeface="Arial"/>
              </a:endParaRPr>
            </a:p>
          </p:txBody>
        </p:sp>
        <p:sp>
          <p:nvSpPr>
            <p:cNvPr id="158" name="Google Shape;158;p6"/>
            <p:cNvSpPr/>
            <p:nvPr/>
          </p:nvSpPr>
          <p:spPr>
            <a:xfrm>
              <a:off x="4374005" y="2304235"/>
              <a:ext cx="3443988" cy="3443988"/>
            </a:xfrm>
            <a:custGeom>
              <a:rect b="b" l="l" r="r" t="t"/>
              <a:pathLst>
                <a:path extrusionOk="0" h="120000" w="120000">
                  <a:moveTo>
                    <a:pt x="67380" y="119544"/>
                  </a:moveTo>
                  <a:cubicBezTo>
                    <a:pt x="62479" y="120151"/>
                    <a:pt x="57522" y="120151"/>
                    <a:pt x="52621" y="119544"/>
                  </a:cubicBezTo>
                </a:path>
              </a:pathLst>
            </a:custGeom>
            <a:noFill/>
            <a:ln cap="flat" cmpd="sng" w="9525">
              <a:solidFill>
                <a:srgbClr val="7C5F9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6"/>
            <p:cNvSpPr/>
            <p:nvPr/>
          </p:nvSpPr>
          <p:spPr>
            <a:xfrm>
              <a:off x="4421477" y="4988818"/>
              <a:ext cx="1324719" cy="861067"/>
            </a:xfrm>
            <a:custGeom>
              <a:rect b="b" l="l" r="r" t="t"/>
              <a:pathLst>
                <a:path extrusionOk="0" h="861067" w="1324719">
                  <a:moveTo>
                    <a:pt x="0" y="143514"/>
                  </a:moveTo>
                  <a:cubicBezTo>
                    <a:pt x="0" y="64253"/>
                    <a:pt x="64253" y="0"/>
                    <a:pt x="143514" y="0"/>
                  </a:cubicBezTo>
                  <a:lnTo>
                    <a:pt x="1181205" y="0"/>
                  </a:lnTo>
                  <a:cubicBezTo>
                    <a:pt x="1260466" y="0"/>
                    <a:pt x="1324719" y="64253"/>
                    <a:pt x="1324719" y="143514"/>
                  </a:cubicBezTo>
                  <a:lnTo>
                    <a:pt x="1324719" y="717553"/>
                  </a:lnTo>
                  <a:cubicBezTo>
                    <a:pt x="1324719" y="796814"/>
                    <a:pt x="1260466" y="861067"/>
                    <a:pt x="1181205" y="861067"/>
                  </a:cubicBezTo>
                  <a:lnTo>
                    <a:pt x="143514" y="861067"/>
                  </a:lnTo>
                  <a:cubicBezTo>
                    <a:pt x="64253" y="861067"/>
                    <a:pt x="0" y="796814"/>
                    <a:pt x="0" y="717553"/>
                  </a:cubicBezTo>
                  <a:lnTo>
                    <a:pt x="0" y="143514"/>
                  </a:lnTo>
                  <a:close/>
                </a:path>
              </a:pathLst>
            </a:custGeom>
            <a:gradFill>
              <a:gsLst>
                <a:gs pos="0">
                  <a:srgbClr val="99EAFF"/>
                </a:gs>
                <a:gs pos="35000">
                  <a:srgbClr val="B8F1FF"/>
                </a:gs>
                <a:gs pos="100000">
                  <a:srgbClr val="E2FBFF"/>
                </a:gs>
              </a:gsLst>
              <a:lin ang="16200000" scaled="0"/>
            </a:gradFill>
            <a:ln>
              <a:noFill/>
            </a:ln>
            <a:effectLst>
              <a:outerShdw blurRad="40000" rotWithShape="0" dir="5400000" dist="20000">
                <a:srgbClr val="000000">
                  <a:alpha val="37254"/>
                </a:srgbClr>
              </a:outerShdw>
            </a:effectLst>
          </p:spPr>
          <p:txBody>
            <a:bodyPr anchorCtr="0" anchor="ctr" bIns="110600" lIns="110600" spcFirstLastPara="1" rIns="110600" wrap="square" tIns="110600">
              <a:noAutofit/>
            </a:bodyPr>
            <a:lstStyle/>
            <a:p>
              <a:pPr indent="0" lvl="0" marL="0" marR="0" rtl="0" algn="ctr">
                <a:lnSpc>
                  <a:spcPct val="9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Predictive analytics</a:t>
              </a:r>
              <a:endParaRPr b="0" i="0" sz="1400" u="none" cap="none" strike="noStrike">
                <a:solidFill>
                  <a:srgbClr val="000000"/>
                </a:solidFill>
                <a:latin typeface="Arial"/>
                <a:ea typeface="Arial"/>
                <a:cs typeface="Arial"/>
                <a:sym typeface="Arial"/>
              </a:endParaRPr>
            </a:p>
          </p:txBody>
        </p:sp>
        <p:sp>
          <p:nvSpPr>
            <p:cNvPr id="160" name="Google Shape;160;p6"/>
            <p:cNvSpPr/>
            <p:nvPr/>
          </p:nvSpPr>
          <p:spPr>
            <a:xfrm>
              <a:off x="4374005" y="2304235"/>
              <a:ext cx="3443988" cy="3443988"/>
            </a:xfrm>
            <a:custGeom>
              <a:rect b="b" l="l" r="r" t="t"/>
              <a:pathLst>
                <a:path extrusionOk="0" h="120000" w="120000">
                  <a:moveTo>
                    <a:pt x="6372" y="86907"/>
                  </a:moveTo>
                  <a:lnTo>
                    <a:pt x="6372" y="86907"/>
                  </a:lnTo>
                  <a:cubicBezTo>
                    <a:pt x="2809" y="79806"/>
                    <a:pt x="692" y="72069"/>
                    <a:pt x="144" y="64143"/>
                  </a:cubicBezTo>
                </a:path>
              </a:pathLst>
            </a:custGeom>
            <a:noFill/>
            <a:ln cap="flat" cmpd="sng" w="9525">
              <a:solidFill>
                <a:srgbClr val="43A9C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6"/>
            <p:cNvSpPr/>
            <p:nvPr/>
          </p:nvSpPr>
          <p:spPr>
            <a:xfrm>
              <a:off x="3795925" y="3063575"/>
              <a:ext cx="1583039" cy="861067"/>
            </a:xfrm>
            <a:custGeom>
              <a:rect b="b" l="l" r="r" t="t"/>
              <a:pathLst>
                <a:path extrusionOk="0" h="861067" w="1324719">
                  <a:moveTo>
                    <a:pt x="0" y="143514"/>
                  </a:moveTo>
                  <a:cubicBezTo>
                    <a:pt x="0" y="64253"/>
                    <a:pt x="64253" y="0"/>
                    <a:pt x="143514" y="0"/>
                  </a:cubicBezTo>
                  <a:lnTo>
                    <a:pt x="1181205" y="0"/>
                  </a:lnTo>
                  <a:cubicBezTo>
                    <a:pt x="1260466" y="0"/>
                    <a:pt x="1324719" y="64253"/>
                    <a:pt x="1324719" y="143514"/>
                  </a:cubicBezTo>
                  <a:lnTo>
                    <a:pt x="1324719" y="717553"/>
                  </a:lnTo>
                  <a:cubicBezTo>
                    <a:pt x="1324719" y="796814"/>
                    <a:pt x="1260466" y="861067"/>
                    <a:pt x="1181205" y="861067"/>
                  </a:cubicBezTo>
                  <a:lnTo>
                    <a:pt x="143514" y="861067"/>
                  </a:lnTo>
                  <a:cubicBezTo>
                    <a:pt x="64253" y="861067"/>
                    <a:pt x="0" y="796814"/>
                    <a:pt x="0" y="717553"/>
                  </a:cubicBezTo>
                  <a:lnTo>
                    <a:pt x="0" y="143514"/>
                  </a:lnTo>
                  <a:close/>
                </a:path>
              </a:pathLst>
            </a:custGeom>
            <a:gradFill>
              <a:gsLst>
                <a:gs pos="0">
                  <a:srgbClr val="FFBD80"/>
                </a:gs>
                <a:gs pos="35000">
                  <a:srgbClr val="FFCFA8"/>
                </a:gs>
                <a:gs pos="100000">
                  <a:srgbClr val="FFEBD9"/>
                </a:gs>
              </a:gsLst>
              <a:lin ang="16200000" scaled="0"/>
            </a:gradFill>
            <a:ln>
              <a:noFill/>
            </a:ln>
            <a:effectLst>
              <a:outerShdw blurRad="40000" rotWithShape="0" dir="5400000" dist="20000">
                <a:srgbClr val="000000">
                  <a:alpha val="37254"/>
                </a:srgbClr>
              </a:outerShdw>
            </a:effectLst>
          </p:spPr>
          <p:txBody>
            <a:bodyPr anchorCtr="0" anchor="ctr" bIns="110600" lIns="110600" spcFirstLastPara="1" rIns="110600" wrap="square" tIns="110600">
              <a:noAutofit/>
            </a:bodyPr>
            <a:lstStyle/>
            <a:p>
              <a:pPr indent="0" lvl="0" marL="0" marR="0" rtl="0" algn="ctr">
                <a:lnSpc>
                  <a:spcPct val="9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Prescriptive analytics</a:t>
              </a:r>
              <a:endParaRPr b="0" i="0" sz="1400" u="none" cap="none" strike="noStrike">
                <a:solidFill>
                  <a:srgbClr val="000000"/>
                </a:solidFill>
                <a:latin typeface="Arial"/>
                <a:ea typeface="Arial"/>
                <a:cs typeface="Arial"/>
                <a:sym typeface="Arial"/>
              </a:endParaRPr>
            </a:p>
          </p:txBody>
        </p:sp>
        <p:sp>
          <p:nvSpPr>
            <p:cNvPr id="162" name="Google Shape;162;p6"/>
            <p:cNvSpPr/>
            <p:nvPr/>
          </p:nvSpPr>
          <p:spPr>
            <a:xfrm>
              <a:off x="4374005" y="2304235"/>
              <a:ext cx="3443988" cy="3443988"/>
            </a:xfrm>
            <a:custGeom>
              <a:rect b="b" l="l" r="r" t="t"/>
              <a:pathLst>
                <a:path extrusionOk="0" h="120000" w="120000">
                  <a:moveTo>
                    <a:pt x="14425" y="20975"/>
                  </a:moveTo>
                  <a:lnTo>
                    <a:pt x="14425" y="20975"/>
                  </a:lnTo>
                  <a:cubicBezTo>
                    <a:pt x="19028" y="15599"/>
                    <a:pt x="24546" y="11081"/>
                    <a:pt x="30723" y="7627"/>
                  </a:cubicBezTo>
                </a:path>
              </a:pathLst>
            </a:custGeom>
            <a:noFill/>
            <a:ln cap="flat" cmpd="sng" w="9525">
              <a:solidFill>
                <a:srgbClr val="F590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3" name="Google Shape;163;p6"/>
          <p:cNvSpPr/>
          <p:nvPr/>
        </p:nvSpPr>
        <p:spPr>
          <a:xfrm>
            <a:off x="8504082" y="2975342"/>
            <a:ext cx="1655545" cy="1075755"/>
          </a:xfrm>
          <a:prstGeom prst="leftArrow">
            <a:avLst>
              <a:gd fmla="val 62060" name="adj1"/>
              <a:gd fmla="val 50000" name="adj2"/>
            </a:avLst>
          </a:prstGeom>
          <a:gradFill>
            <a:gsLst>
              <a:gs pos="0">
                <a:srgbClr val="F4F8FB"/>
              </a:gs>
              <a:gs pos="100000">
                <a:srgbClr val="0F243E"/>
              </a:gs>
            </a:gsLst>
            <a:lin ang="10800000" scaled="0"/>
          </a:gra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What is happening?</a:t>
            </a:r>
            <a:endParaRPr b="0" i="0" sz="1400" u="none" cap="none" strike="noStrike">
              <a:solidFill>
                <a:srgbClr val="000000"/>
              </a:solidFill>
              <a:latin typeface="Arial"/>
              <a:ea typeface="Arial"/>
              <a:cs typeface="Arial"/>
              <a:sym typeface="Arial"/>
            </a:endParaRPr>
          </a:p>
        </p:txBody>
      </p:sp>
      <p:sp>
        <p:nvSpPr>
          <p:cNvPr id="164" name="Google Shape;164;p6"/>
          <p:cNvSpPr/>
          <p:nvPr/>
        </p:nvSpPr>
        <p:spPr>
          <a:xfrm>
            <a:off x="7883325" y="4814239"/>
            <a:ext cx="1655545" cy="1093402"/>
          </a:xfrm>
          <a:prstGeom prst="leftArrow">
            <a:avLst>
              <a:gd fmla="val 71221" name="adj1"/>
              <a:gd fmla="val 50000" name="adj2"/>
            </a:avLst>
          </a:prstGeom>
          <a:gradFill>
            <a:gsLst>
              <a:gs pos="0">
                <a:srgbClr val="B2A0C7"/>
              </a:gs>
              <a:gs pos="100000">
                <a:schemeClr val="lt1"/>
              </a:gs>
            </a:gsLst>
            <a:lin ang="0" scaled="0"/>
          </a:gra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Why did it happen?</a:t>
            </a:r>
            <a:endParaRPr b="0" i="0" sz="1400" u="none" cap="none" strike="noStrike">
              <a:solidFill>
                <a:srgbClr val="000000"/>
              </a:solidFill>
              <a:latin typeface="Arial"/>
              <a:ea typeface="Arial"/>
              <a:cs typeface="Arial"/>
              <a:sym typeface="Arial"/>
            </a:endParaRPr>
          </a:p>
        </p:txBody>
      </p:sp>
      <p:sp>
        <p:nvSpPr>
          <p:cNvPr id="165" name="Google Shape;165;p6"/>
          <p:cNvSpPr/>
          <p:nvPr/>
        </p:nvSpPr>
        <p:spPr>
          <a:xfrm>
            <a:off x="1981200" y="4894261"/>
            <a:ext cx="2251591" cy="1080000"/>
          </a:xfrm>
          <a:prstGeom prst="rightArrow">
            <a:avLst>
              <a:gd fmla="val 69640" name="adj1"/>
              <a:gd fmla="val 50000" name="adj2"/>
            </a:avLst>
          </a:prstGeom>
          <a:gradFill>
            <a:gsLst>
              <a:gs pos="0">
                <a:schemeClr val="lt1"/>
              </a:gs>
              <a:gs pos="100000">
                <a:srgbClr val="349EBA"/>
              </a:gs>
            </a:gsLst>
            <a:lin ang="0" scaled="0"/>
          </a:gra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What could happen in future?</a:t>
            </a:r>
            <a:endParaRPr b="0" i="0" sz="1400" u="none" cap="none" strike="noStrike">
              <a:solidFill>
                <a:srgbClr val="000000"/>
              </a:solidFill>
              <a:latin typeface="Arial"/>
              <a:ea typeface="Arial"/>
              <a:cs typeface="Arial"/>
              <a:sym typeface="Arial"/>
            </a:endParaRPr>
          </a:p>
        </p:txBody>
      </p:sp>
      <p:sp>
        <p:nvSpPr>
          <p:cNvPr id="166" name="Google Shape;166;p6"/>
          <p:cNvSpPr/>
          <p:nvPr/>
        </p:nvSpPr>
        <p:spPr>
          <a:xfrm>
            <a:off x="1828907" y="2975342"/>
            <a:ext cx="1780673" cy="1080000"/>
          </a:xfrm>
          <a:prstGeom prst="rightArrow">
            <a:avLst>
              <a:gd fmla="val 69640" name="adj1"/>
              <a:gd fmla="val 50000" name="adj2"/>
            </a:avLst>
          </a:prstGeom>
          <a:gradFill>
            <a:gsLst>
              <a:gs pos="0">
                <a:schemeClr val="lt1"/>
              </a:gs>
              <a:gs pos="100000">
                <a:srgbClr val="E38229"/>
              </a:gs>
            </a:gsLst>
            <a:lin ang="0" scaled="0"/>
          </a:gra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What should be done? </a:t>
            </a:r>
            <a:endParaRPr b="0" i="0" sz="1400" u="none" cap="none" strike="noStrike">
              <a:solidFill>
                <a:srgbClr val="000000"/>
              </a:solidFill>
              <a:latin typeface="Arial"/>
              <a:ea typeface="Arial"/>
              <a:cs typeface="Arial"/>
              <a:sym typeface="Arial"/>
            </a:endParaRPr>
          </a:p>
        </p:txBody>
      </p:sp>
      <p:sp>
        <p:nvSpPr>
          <p:cNvPr id="167" name="Google Shape;167;p6"/>
          <p:cNvSpPr/>
          <p:nvPr/>
        </p:nvSpPr>
        <p:spPr>
          <a:xfrm>
            <a:off x="8242110" y="1642839"/>
            <a:ext cx="2179488" cy="830997"/>
          </a:xfrm>
          <a:prstGeom prst="wedgeRectCallout">
            <a:avLst>
              <a:gd fmla="val -34818" name="adj1"/>
              <a:gd fmla="val 112933" name="adj2"/>
            </a:avLst>
          </a:prstGeom>
          <a:gradFill>
            <a:gsLst>
              <a:gs pos="0">
                <a:srgbClr val="FFBB82"/>
              </a:gs>
              <a:gs pos="35000">
                <a:srgbClr val="FFCFA8"/>
              </a:gs>
              <a:gs pos="100000">
                <a:srgbClr val="FFEBD9"/>
              </a:gs>
            </a:gsLst>
            <a:lin ang="16200000" scaled="0"/>
          </a:gradFill>
          <a:ln cap="flat" cmpd="sng" w="9525">
            <a:solidFill>
              <a:srgbClr val="F5913F"/>
            </a:solidFill>
            <a:prstDash val="solid"/>
            <a:round/>
            <a:headEnd len="sm" w="sm" type="none"/>
            <a:tailEnd len="sm" w="sm" type="none"/>
          </a:ln>
          <a:effectLst>
            <a:outerShdw blurRad="40000" rotWithShape="0" dir="5400000" dist="20000">
              <a:srgbClr val="000000">
                <a:alpha val="37254"/>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Exploratory data analysis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2"/>
                                        </p:tgtEl>
                                        <p:attrNameLst>
                                          <p:attrName>style.visibility</p:attrName>
                                        </p:attrNameLst>
                                      </p:cBhvr>
                                      <p:to>
                                        <p:strVal val="visible"/>
                                      </p:to>
                                    </p:set>
                                    <p:anim calcmode="lin" valueType="num">
                                      <p:cBhvr additive="base">
                                        <p:cTn dur="500"/>
                                        <p:tgtEl>
                                          <p:spTgt spid="152"/>
                                        </p:tgtEl>
                                        <p:attrNameLst>
                                          <p:attrName>ppt_w</p:attrName>
                                        </p:attrNameLst>
                                      </p:cBhvr>
                                      <p:tavLst>
                                        <p:tav fmla="" tm="0">
                                          <p:val>
                                            <p:strVal val="0"/>
                                          </p:val>
                                        </p:tav>
                                        <p:tav fmla="" tm="100000">
                                          <p:val>
                                            <p:strVal val="#ppt_w"/>
                                          </p:val>
                                        </p:tav>
                                      </p:tavLst>
                                    </p:anim>
                                    <p:anim calcmode="lin" valueType="num">
                                      <p:cBhvr additive="base">
                                        <p:cTn dur="500"/>
                                        <p:tgtEl>
                                          <p:spTgt spid="15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Objective of EDA</a:t>
            </a:r>
            <a:endParaRPr/>
          </a:p>
        </p:txBody>
      </p:sp>
      <p:sp>
        <p:nvSpPr>
          <p:cNvPr id="173" name="Google Shape;173;p7"/>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431800" lvl="0" marL="457200" marR="0" rtl="0" algn="l">
              <a:lnSpc>
                <a:spcPct val="100000"/>
              </a:lnSpc>
              <a:spcBef>
                <a:spcPts val="640"/>
              </a:spcBef>
              <a:spcAft>
                <a:spcPts val="0"/>
              </a:spcAft>
              <a:buClr>
                <a:schemeClr val="dk1"/>
              </a:buClr>
              <a:buSzPts val="3200"/>
              <a:buFont typeface="Arial"/>
              <a:buChar char="•"/>
            </a:pPr>
            <a:r>
              <a:rPr lang="en-IN"/>
              <a:t>Understand the spread of variables in the dataset</a:t>
            </a:r>
            <a:endParaRPr/>
          </a:p>
          <a:p>
            <a:pPr indent="-431800" lvl="0" marL="457200" marR="0" rtl="0" algn="l">
              <a:lnSpc>
                <a:spcPct val="100000"/>
              </a:lnSpc>
              <a:spcBef>
                <a:spcPts val="640"/>
              </a:spcBef>
              <a:spcAft>
                <a:spcPts val="0"/>
              </a:spcAft>
              <a:buClr>
                <a:schemeClr val="dk1"/>
              </a:buClr>
              <a:buSzPts val="3200"/>
              <a:buFont typeface="Arial"/>
              <a:buChar char="•"/>
            </a:pPr>
            <a:r>
              <a:rPr lang="en-IN"/>
              <a:t>Obtain cues on relationship between variables in a dataset</a:t>
            </a:r>
            <a:endParaRPr/>
          </a:p>
          <a:p>
            <a:pPr indent="-431800" lvl="0" marL="457200" marR="0" rtl="0" algn="l">
              <a:lnSpc>
                <a:spcPct val="100000"/>
              </a:lnSpc>
              <a:spcBef>
                <a:spcPts val="640"/>
              </a:spcBef>
              <a:spcAft>
                <a:spcPts val="0"/>
              </a:spcAft>
              <a:buClr>
                <a:schemeClr val="dk1"/>
              </a:buClr>
              <a:buSzPts val="3200"/>
              <a:buFont typeface="Arial"/>
              <a:buChar char="•"/>
            </a:pPr>
            <a:r>
              <a:rPr lang="en-IN"/>
              <a:t>Detect any outliers in the dataset</a:t>
            </a:r>
            <a:endParaRPr/>
          </a:p>
          <a:p>
            <a:pPr indent="-431800" lvl="0" marL="457200" marR="0" rtl="0" algn="l">
              <a:lnSpc>
                <a:spcPct val="100000"/>
              </a:lnSpc>
              <a:spcBef>
                <a:spcPts val="640"/>
              </a:spcBef>
              <a:spcAft>
                <a:spcPts val="0"/>
              </a:spcAft>
              <a:buClr>
                <a:schemeClr val="dk1"/>
              </a:buClr>
              <a:buSzPts val="3200"/>
              <a:buFont typeface="Arial"/>
              <a:buChar char="•"/>
            </a:pPr>
            <a:r>
              <a:rPr lang="en-IN"/>
              <a:t>Spot missing values in the dataset</a:t>
            </a:r>
            <a:endParaRPr/>
          </a:p>
          <a:p>
            <a:pPr indent="-228600" lvl="0" marL="457200" marR="0" rtl="0" algn="l">
              <a:lnSpc>
                <a:spcPct val="100000"/>
              </a:lnSpc>
              <a:spcBef>
                <a:spcPts val="640"/>
              </a:spcBef>
              <a:spcAft>
                <a:spcPts val="0"/>
              </a:spcAft>
              <a:buClr>
                <a:schemeClr val="dk1"/>
              </a:buClr>
              <a:buSzPts val="3200"/>
              <a:buFont typeface="Arial"/>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8"/>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Aspects to remember</a:t>
            </a:r>
            <a:endParaRPr/>
          </a:p>
        </p:txBody>
      </p:sp>
      <p:sp>
        <p:nvSpPr>
          <p:cNvPr id="179" name="Google Shape;179;p8"/>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431800" lvl="0" marL="457200" marR="0" rtl="0" algn="l">
              <a:lnSpc>
                <a:spcPct val="100000"/>
              </a:lnSpc>
              <a:spcBef>
                <a:spcPts val="640"/>
              </a:spcBef>
              <a:spcAft>
                <a:spcPts val="0"/>
              </a:spcAft>
              <a:buClr>
                <a:schemeClr val="dk1"/>
              </a:buClr>
              <a:buSzPts val="3200"/>
              <a:buFont typeface="Arial"/>
              <a:buChar char="•"/>
            </a:pPr>
            <a:r>
              <a:rPr lang="en-IN"/>
              <a:t>EDA is a visual examination of the dataset</a:t>
            </a:r>
            <a:endParaRPr/>
          </a:p>
          <a:p>
            <a:pPr indent="-431800" lvl="0" marL="457200" marR="0" rtl="0" algn="l">
              <a:lnSpc>
                <a:spcPct val="100000"/>
              </a:lnSpc>
              <a:spcBef>
                <a:spcPts val="640"/>
              </a:spcBef>
              <a:spcAft>
                <a:spcPts val="0"/>
              </a:spcAft>
              <a:buClr>
                <a:schemeClr val="dk1"/>
              </a:buClr>
              <a:buSzPts val="3200"/>
              <a:buFont typeface="Arial"/>
              <a:buChar char="•"/>
            </a:pPr>
            <a:r>
              <a:rPr lang="en-IN"/>
              <a:t>The observations from EDA need not necessarily be statistically significant</a:t>
            </a:r>
            <a:endParaRPr/>
          </a:p>
          <a:p>
            <a:pPr indent="-431800" lvl="0" marL="457200" marR="0" rtl="0" algn="l">
              <a:lnSpc>
                <a:spcPct val="100000"/>
              </a:lnSpc>
              <a:spcBef>
                <a:spcPts val="640"/>
              </a:spcBef>
              <a:spcAft>
                <a:spcPts val="0"/>
              </a:spcAft>
              <a:buClr>
                <a:schemeClr val="dk1"/>
              </a:buClr>
              <a:buSzPts val="3200"/>
              <a:buFont typeface="Arial"/>
              <a:buChar char="•"/>
            </a:pPr>
            <a:r>
              <a:rPr lang="en-IN"/>
              <a:t>Further statistical models need to be applied to confirm statistical significance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Stages of EDA</a:t>
            </a:r>
            <a:endParaRPr/>
          </a:p>
        </p:txBody>
      </p:sp>
      <p:sp>
        <p:nvSpPr>
          <p:cNvPr id="185" name="Google Shape;185;p9"/>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431800" lvl="0" marL="457200" marR="0" rtl="0" algn="l">
              <a:lnSpc>
                <a:spcPct val="100000"/>
              </a:lnSpc>
              <a:spcBef>
                <a:spcPts val="640"/>
              </a:spcBef>
              <a:spcAft>
                <a:spcPts val="0"/>
              </a:spcAft>
              <a:buClr>
                <a:schemeClr val="dk1"/>
              </a:buClr>
              <a:buSzPts val="3200"/>
              <a:buFont typeface="Arial"/>
              <a:buChar char="•"/>
            </a:pPr>
            <a:r>
              <a:rPr lang="en-IN"/>
              <a:t>Univariate analysis — provides summary statistics for each field in the raw data set</a:t>
            </a:r>
            <a:endParaRPr/>
          </a:p>
          <a:p>
            <a:pPr indent="-431800" lvl="0" marL="457200" marR="0" rtl="0" algn="l">
              <a:lnSpc>
                <a:spcPct val="100000"/>
              </a:lnSpc>
              <a:spcBef>
                <a:spcPts val="640"/>
              </a:spcBef>
              <a:spcAft>
                <a:spcPts val="0"/>
              </a:spcAft>
              <a:buClr>
                <a:schemeClr val="dk1"/>
              </a:buClr>
              <a:buSzPts val="3200"/>
              <a:buFont typeface="Arial"/>
              <a:buChar char="•"/>
            </a:pPr>
            <a:r>
              <a:rPr lang="en-IN"/>
              <a:t>Bivariate analysis  — to find the relationship between each variable in the dataset and the target variable of interest</a:t>
            </a:r>
            <a:endParaRPr/>
          </a:p>
          <a:p>
            <a:pPr indent="-431800" lvl="0" marL="457200" marR="0" rtl="0" algn="l">
              <a:lnSpc>
                <a:spcPct val="100000"/>
              </a:lnSpc>
              <a:spcBef>
                <a:spcPts val="640"/>
              </a:spcBef>
              <a:spcAft>
                <a:spcPts val="0"/>
              </a:spcAft>
              <a:buClr>
                <a:schemeClr val="dk1"/>
              </a:buClr>
              <a:buSzPts val="3200"/>
              <a:buFont typeface="Arial"/>
              <a:buChar char="•"/>
            </a:pPr>
            <a:r>
              <a:rPr lang="en-IN"/>
              <a:t>Multivariate analysis  — is performed to understand interactions between different variables in the dataset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txBox="1"/>
          <p:nvPr>
            <p:ph type="title"/>
          </p:nvPr>
        </p:nvSpPr>
        <p:spPr>
          <a:xfrm>
            <a:off x="512762" y="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480"/>
              </a:spcBef>
              <a:spcAft>
                <a:spcPts val="0"/>
              </a:spcAft>
              <a:buClr>
                <a:schemeClr val="dk1"/>
              </a:buClr>
              <a:buSzPts val="2400"/>
              <a:buNone/>
            </a:pPr>
            <a:r>
              <a:rPr lang="en-IN" sz="4000" u="sng">
                <a:latin typeface="Times New Roman"/>
                <a:ea typeface="Times New Roman"/>
                <a:cs typeface="Times New Roman"/>
                <a:sym typeface="Times New Roman"/>
              </a:rPr>
              <a:t>Matplotlib, Seaborn and Plotly</a:t>
            </a:r>
            <a:endParaRPr sz="4000" u="sng"/>
          </a:p>
        </p:txBody>
      </p:sp>
      <p:sp>
        <p:nvSpPr>
          <p:cNvPr id="191" name="Google Shape;191;p10"/>
          <p:cNvSpPr txBox="1"/>
          <p:nvPr>
            <p:ph idx="1" type="body"/>
          </p:nvPr>
        </p:nvSpPr>
        <p:spPr>
          <a:xfrm>
            <a:off x="609600" y="1143000"/>
            <a:ext cx="10668000" cy="5334000"/>
          </a:xfrm>
          <a:prstGeom prst="rect">
            <a:avLst/>
          </a:prstGeom>
          <a:noFill/>
          <a:ln>
            <a:noFill/>
          </a:ln>
        </p:spPr>
        <p:txBody>
          <a:bodyPr anchorCtr="0" anchor="t" bIns="45700" lIns="91425" spcFirstLastPara="1" rIns="91425" wrap="square" tIns="45700">
            <a:noAutofit/>
          </a:bodyPr>
          <a:lstStyle/>
          <a:p>
            <a:pPr indent="-215900" lvl="0" marL="342900" marR="0" rtl="0" algn="l">
              <a:lnSpc>
                <a:spcPct val="100000"/>
              </a:lnSpc>
              <a:spcBef>
                <a:spcPts val="400"/>
              </a:spcBef>
              <a:spcAft>
                <a:spcPts val="0"/>
              </a:spcAft>
              <a:buClr>
                <a:schemeClr val="dk1"/>
              </a:buClr>
              <a:buSzPts val="2000"/>
              <a:buFont typeface="Arial"/>
              <a:buNone/>
            </a:pPr>
            <a:r>
              <a:rPr lang="en-IN" sz="3000">
                <a:latin typeface="Times New Roman"/>
                <a:ea typeface="Times New Roman"/>
                <a:cs typeface="Times New Roman"/>
                <a:sym typeface="Times New Roman"/>
              </a:rPr>
              <a:t>Matplotlib</a:t>
            </a:r>
            <a:endParaRPr sz="3000">
              <a:latin typeface="Times New Roman"/>
              <a:ea typeface="Times New Roman"/>
              <a:cs typeface="Times New Roman"/>
              <a:sym typeface="Times New Roman"/>
            </a:endParaRPr>
          </a:p>
          <a:p>
            <a:pPr indent="-215900" lvl="0" marL="342900" rtl="0" algn="l">
              <a:lnSpc>
                <a:spcPct val="100000"/>
              </a:lnSpc>
              <a:spcBef>
                <a:spcPts val="400"/>
              </a:spcBef>
              <a:spcAft>
                <a:spcPts val="0"/>
              </a:spcAft>
              <a:buSzPts val="2000"/>
              <a:buNone/>
            </a:pPr>
            <a:r>
              <a:rPr lang="en-IN" sz="2000"/>
              <a:t>The matplotlib provides a context, one in which one or more plots can be drawn before the image is shown or saved to file. The context can be accessed via functions on </a:t>
            </a:r>
            <a:r>
              <a:rPr i="1" lang="en-IN" sz="2000"/>
              <a:t>pyplot</a:t>
            </a:r>
            <a:r>
              <a:rPr lang="en-IN" sz="2000"/>
              <a:t>. The context can be imported as follows:</a:t>
            </a:r>
            <a:endParaRPr/>
          </a:p>
          <a:p>
            <a:pPr indent="-215900" lvl="0" marL="342900" rtl="0" algn="l">
              <a:lnSpc>
                <a:spcPct val="100000"/>
              </a:lnSpc>
              <a:spcBef>
                <a:spcPts val="400"/>
              </a:spcBef>
              <a:spcAft>
                <a:spcPts val="0"/>
              </a:spcAft>
              <a:buSzPts val="2000"/>
              <a:buNone/>
            </a:pPr>
            <a:r>
              <a:rPr lang="en-IN" sz="2000">
                <a:solidFill>
                  <a:srgbClr val="0070C0"/>
                </a:solidFill>
                <a:latin typeface="Times New Roman"/>
                <a:ea typeface="Times New Roman"/>
                <a:cs typeface="Times New Roman"/>
                <a:sym typeface="Times New Roman"/>
              </a:rPr>
              <a:t>i</a:t>
            </a:r>
            <a:r>
              <a:rPr i="1" lang="en-IN" sz="2000">
                <a:solidFill>
                  <a:srgbClr val="0070C0"/>
                </a:solidFill>
                <a:latin typeface="Times New Roman"/>
                <a:ea typeface="Times New Roman"/>
                <a:cs typeface="Times New Roman"/>
                <a:sym typeface="Times New Roman"/>
              </a:rPr>
              <a:t>mport matplotlib import pyplot</a:t>
            </a:r>
            <a:endParaRPr i="1" sz="2000">
              <a:solidFill>
                <a:srgbClr val="0070C0"/>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SzPts val="2000"/>
              <a:buNone/>
            </a:pPr>
            <a:r>
              <a:t/>
            </a:r>
            <a:endParaRPr i="1" sz="2000">
              <a:solidFill>
                <a:srgbClr val="0070C0"/>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SzPts val="2000"/>
              <a:buNone/>
            </a:pPr>
            <a:r>
              <a:rPr lang="en-IN" sz="2000"/>
              <a:t>There is some convention to import this context and name it plt; for example:</a:t>
            </a:r>
            <a:endParaRPr/>
          </a:p>
          <a:p>
            <a:pPr indent="-215900" lvl="0" marL="342900" rtl="0" algn="l">
              <a:lnSpc>
                <a:spcPct val="100000"/>
              </a:lnSpc>
              <a:spcBef>
                <a:spcPts val="400"/>
              </a:spcBef>
              <a:spcAft>
                <a:spcPts val="0"/>
              </a:spcAft>
              <a:buSzPts val="2000"/>
              <a:buNone/>
            </a:pPr>
            <a:r>
              <a:rPr i="1" lang="en-IN" sz="2000">
                <a:solidFill>
                  <a:srgbClr val="0070C0"/>
                </a:solidFill>
                <a:latin typeface="Times New Roman"/>
                <a:ea typeface="Times New Roman"/>
                <a:cs typeface="Times New Roman"/>
                <a:sym typeface="Times New Roman"/>
              </a:rPr>
              <a:t>import matplotlib.pyplot as plt</a:t>
            </a:r>
            <a:endParaRPr i="1" sz="2000">
              <a:solidFill>
                <a:srgbClr val="0070C0"/>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SzPts val="2000"/>
              <a:buNone/>
            </a:pPr>
            <a:r>
              <a:t/>
            </a:r>
            <a:endParaRPr i="1" sz="2000">
              <a:solidFill>
                <a:srgbClr val="0070C0"/>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SzPts val="2000"/>
              <a:buNone/>
            </a:pPr>
            <a:r>
              <a:rPr lang="en-IN" sz="2000"/>
              <a:t>Charts and plots are made by making and calling on context; for example:</a:t>
            </a:r>
            <a:endParaRPr/>
          </a:p>
          <a:p>
            <a:pPr indent="-215900" lvl="0" marL="342900" rtl="0" algn="l">
              <a:lnSpc>
                <a:spcPct val="100000"/>
              </a:lnSpc>
              <a:spcBef>
                <a:spcPts val="400"/>
              </a:spcBef>
              <a:spcAft>
                <a:spcPts val="0"/>
              </a:spcAft>
              <a:buSzPts val="2000"/>
              <a:buNone/>
            </a:pPr>
            <a:r>
              <a:rPr i="1" lang="en-IN" sz="2000">
                <a:solidFill>
                  <a:srgbClr val="0070C0"/>
                </a:solidFill>
                <a:latin typeface="Times New Roman"/>
                <a:ea typeface="Times New Roman"/>
                <a:cs typeface="Times New Roman"/>
                <a:sym typeface="Times New Roman"/>
              </a:rPr>
              <a:t>pyplot.plot()</a:t>
            </a:r>
            <a:endParaRPr i="1" sz="2000">
              <a:solidFill>
                <a:srgbClr val="0070C0"/>
              </a:solidFill>
              <a:latin typeface="Times New Roman"/>
              <a:ea typeface="Times New Roman"/>
              <a:cs typeface="Times New Roman"/>
              <a:sym typeface="Times New Roman"/>
            </a:endParaRPr>
          </a:p>
        </p:txBody>
      </p:sp>
      <p:sp>
        <p:nvSpPr>
          <p:cNvPr id="192" name="Google Shape;192;p10"/>
          <p:cNvSpPr txBox="1"/>
          <p:nvPr/>
        </p:nvSpPr>
        <p:spPr>
          <a:xfrm>
            <a:off x="8737600" y="6477000"/>
            <a:ext cx="284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1400"/>
              <a:buFont typeface="Times New Roman"/>
              <a:buNone/>
            </a:pPr>
            <a:fld id="{00000000-1234-1234-1234-123412341234}" type="slidenum">
              <a:rPr b="0" i="0" lang="en-IN" sz="1400" u="none" cap="none" strike="noStrike">
                <a:solidFill>
                  <a:srgbClr val="595959"/>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1"/>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0" lvl="0" marL="25400" rtl="0" algn="l">
              <a:lnSpc>
                <a:spcPct val="100000"/>
              </a:lnSpc>
              <a:spcBef>
                <a:spcPts val="640"/>
              </a:spcBef>
              <a:spcAft>
                <a:spcPts val="0"/>
              </a:spcAft>
              <a:buSzPts val="3200"/>
              <a:buNone/>
            </a:pPr>
            <a:r>
              <a:rPr lang="en-IN" sz="2800">
                <a:latin typeface="Times New Roman"/>
                <a:ea typeface="Times New Roman"/>
                <a:cs typeface="Times New Roman"/>
                <a:sym typeface="Times New Roman"/>
              </a:rPr>
              <a:t>Seaborn </a:t>
            </a:r>
            <a:endParaRPr/>
          </a:p>
          <a:p>
            <a:pPr indent="0" lvl="0" marL="25400" rtl="0" algn="l">
              <a:lnSpc>
                <a:spcPct val="100000"/>
              </a:lnSpc>
              <a:spcBef>
                <a:spcPts val="640"/>
              </a:spcBef>
              <a:spcAft>
                <a:spcPts val="0"/>
              </a:spcAft>
              <a:buSzPts val="3200"/>
              <a:buNone/>
            </a:pPr>
            <a:r>
              <a:rPr lang="en-IN" sz="2000"/>
              <a:t>Seaborn is complementary to Matplotlib and it specifically targets statistical data visualization. But it goes even further than that: Seaborn extends Matplotlib and that’s why it can address the two biggest frustrations of working with Matplotlib. You can import necessary library as follows:</a:t>
            </a:r>
            <a:endParaRPr/>
          </a:p>
          <a:p>
            <a:pPr indent="0" lvl="0" marL="25400" rtl="0" algn="l">
              <a:lnSpc>
                <a:spcPct val="100000"/>
              </a:lnSpc>
              <a:spcBef>
                <a:spcPts val="640"/>
              </a:spcBef>
              <a:spcAft>
                <a:spcPts val="0"/>
              </a:spcAft>
              <a:buSzPts val="3200"/>
              <a:buNone/>
            </a:pPr>
            <a:r>
              <a:rPr i="1" lang="en-IN" sz="2000">
                <a:solidFill>
                  <a:srgbClr val="0070C0"/>
                </a:solidFill>
                <a:latin typeface="Times New Roman"/>
                <a:ea typeface="Times New Roman"/>
                <a:cs typeface="Times New Roman"/>
                <a:sym typeface="Times New Roman"/>
              </a:rPr>
              <a:t>import seaborn as sns</a:t>
            </a:r>
            <a:endParaRPr i="1" sz="2000">
              <a:solidFill>
                <a:srgbClr val="0070C0"/>
              </a:solidFill>
              <a:latin typeface="Times New Roman"/>
              <a:ea typeface="Times New Roman"/>
              <a:cs typeface="Times New Roman"/>
              <a:sym typeface="Times New Roman"/>
            </a:endParaRPr>
          </a:p>
          <a:p>
            <a:pPr indent="0" lvl="0" marL="25400" rtl="0" algn="l">
              <a:lnSpc>
                <a:spcPct val="100000"/>
              </a:lnSpc>
              <a:spcBef>
                <a:spcPts val="640"/>
              </a:spcBef>
              <a:spcAft>
                <a:spcPts val="0"/>
              </a:spcAft>
              <a:buSzPts val="3200"/>
              <a:buNone/>
            </a:pPr>
            <a:r>
              <a:rPr lang="en-IN" sz="2000"/>
              <a:t>Loading the data: </a:t>
            </a:r>
            <a:endParaRPr/>
          </a:p>
          <a:p>
            <a:pPr indent="0" lvl="0" marL="25400" rtl="0" algn="l">
              <a:lnSpc>
                <a:spcPct val="100000"/>
              </a:lnSpc>
              <a:spcBef>
                <a:spcPts val="640"/>
              </a:spcBef>
              <a:spcAft>
                <a:spcPts val="0"/>
              </a:spcAft>
              <a:buSzPts val="3200"/>
              <a:buNone/>
            </a:pPr>
            <a:r>
              <a:rPr i="1" lang="en-IN" sz="2000">
                <a:solidFill>
                  <a:srgbClr val="0070C0"/>
                </a:solidFill>
                <a:latin typeface="Times New Roman"/>
                <a:ea typeface="Times New Roman"/>
                <a:cs typeface="Times New Roman"/>
                <a:sym typeface="Times New Roman"/>
              </a:rPr>
              <a:t>X= sns.dataset(“x”)</a:t>
            </a:r>
            <a:endParaRPr/>
          </a:p>
          <a:p>
            <a:pPr indent="0" lvl="0" marL="25400" rtl="0" algn="l">
              <a:lnSpc>
                <a:spcPct val="100000"/>
              </a:lnSpc>
              <a:spcBef>
                <a:spcPts val="640"/>
              </a:spcBef>
              <a:spcAft>
                <a:spcPts val="0"/>
              </a:spcAft>
              <a:buSzPts val="3200"/>
              <a:buNone/>
            </a:pPr>
            <a:r>
              <a:t/>
            </a:r>
            <a:endParaRPr i="1" sz="2000">
              <a:solidFill>
                <a:srgbClr val="0070C0"/>
              </a:solidFill>
              <a:latin typeface="Times New Roman"/>
              <a:ea typeface="Times New Roman"/>
              <a:cs typeface="Times New Roman"/>
              <a:sym typeface="Times New Roman"/>
            </a:endParaRPr>
          </a:p>
          <a:p>
            <a:pPr indent="0" lvl="0" marL="25400" rtl="0" algn="l">
              <a:lnSpc>
                <a:spcPct val="100000"/>
              </a:lnSpc>
              <a:spcBef>
                <a:spcPts val="640"/>
              </a:spcBef>
              <a:spcAft>
                <a:spcPts val="0"/>
              </a:spcAft>
              <a:buSzPts val="3200"/>
              <a:buNone/>
            </a:pPr>
            <a:r>
              <a:rPr lang="en-IN" sz="2000"/>
              <a:t>Michael Waskom says in the  “If matplotlib “tries to make easy things easy and hard things possible”, seaborn tries to make a well-defined set of hard things easy too.”</a:t>
            </a:r>
            <a:endParaRPr i="1" sz="2000">
              <a:solidFill>
                <a:srgbClr val="0070C0"/>
              </a:solidFill>
              <a:latin typeface="Times New Roman"/>
              <a:ea typeface="Times New Roman"/>
              <a:cs typeface="Times New Roman"/>
              <a:sym typeface="Times New Roman"/>
            </a:endParaRPr>
          </a:p>
        </p:txBody>
      </p:sp>
      <p:sp>
        <p:nvSpPr>
          <p:cNvPr id="198" name="Google Shape;198;p11"/>
          <p:cNvSpPr txBox="1"/>
          <p:nvPr>
            <p:ph type="title"/>
          </p:nvPr>
        </p:nvSpPr>
        <p:spPr>
          <a:xfrm>
            <a:off x="512762" y="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480"/>
              </a:spcBef>
              <a:spcAft>
                <a:spcPts val="0"/>
              </a:spcAft>
              <a:buClr>
                <a:schemeClr val="dk1"/>
              </a:buClr>
              <a:buSzPts val="2400"/>
              <a:buNone/>
            </a:pPr>
            <a:r>
              <a:rPr lang="en-IN" sz="4000" u="sng">
                <a:latin typeface="Times New Roman"/>
                <a:ea typeface="Times New Roman"/>
                <a:cs typeface="Times New Roman"/>
                <a:sym typeface="Times New Roman"/>
              </a:rPr>
              <a:t>Matplotlib, Seaborn and Plotly</a:t>
            </a:r>
            <a:endParaRPr sz="4000" u="sng"/>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2"/>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0" lvl="0" marL="25400" rtl="0" algn="l">
              <a:lnSpc>
                <a:spcPct val="100000"/>
              </a:lnSpc>
              <a:spcBef>
                <a:spcPts val="640"/>
              </a:spcBef>
              <a:spcAft>
                <a:spcPts val="0"/>
              </a:spcAft>
              <a:buSzPts val="3200"/>
              <a:buNone/>
            </a:pPr>
            <a:r>
              <a:rPr lang="en-IN"/>
              <a:t>Plotly</a:t>
            </a:r>
            <a:endParaRPr/>
          </a:p>
          <a:p>
            <a:pPr indent="0" lvl="0" marL="25400" rtl="0" algn="l">
              <a:lnSpc>
                <a:spcPct val="100000"/>
              </a:lnSpc>
              <a:spcBef>
                <a:spcPts val="640"/>
              </a:spcBef>
              <a:spcAft>
                <a:spcPts val="0"/>
              </a:spcAft>
              <a:buSzPts val="3200"/>
              <a:buNone/>
            </a:pPr>
            <a:r>
              <a:rPr lang="en-IN" sz="2000">
                <a:latin typeface="Times New Roman"/>
                <a:ea typeface="Times New Roman"/>
                <a:cs typeface="Times New Roman"/>
                <a:sym typeface="Times New Roman"/>
              </a:rPr>
              <a:t>Plotly provides a web-service for hosting graphs. Plotly for Python can be configured to render locally inside Jupyter (IPython) notebooks, locally inside your web browser, or remotely in your online Plotly account. You can import necessary library as follows:</a:t>
            </a:r>
            <a:endParaRPr/>
          </a:p>
          <a:p>
            <a:pPr indent="0" lvl="0" marL="25400" rtl="0" algn="l">
              <a:lnSpc>
                <a:spcPct val="100000"/>
              </a:lnSpc>
              <a:spcBef>
                <a:spcPts val="640"/>
              </a:spcBef>
              <a:spcAft>
                <a:spcPts val="0"/>
              </a:spcAft>
              <a:buSzPts val="3200"/>
              <a:buNone/>
            </a:pPr>
            <a:r>
              <a:t/>
            </a:r>
            <a:endParaRPr sz="2000">
              <a:latin typeface="Times New Roman"/>
              <a:ea typeface="Times New Roman"/>
              <a:cs typeface="Times New Roman"/>
              <a:sym typeface="Times New Roman"/>
            </a:endParaRPr>
          </a:p>
          <a:p>
            <a:pPr indent="0" lvl="0" marL="25400" rtl="0" algn="l">
              <a:lnSpc>
                <a:spcPct val="100000"/>
              </a:lnSpc>
              <a:spcBef>
                <a:spcPts val="640"/>
              </a:spcBef>
              <a:spcAft>
                <a:spcPts val="0"/>
              </a:spcAft>
              <a:buSzPts val="3200"/>
              <a:buNone/>
            </a:pPr>
            <a:r>
              <a:rPr i="1" lang="en-IN" sz="2000">
                <a:solidFill>
                  <a:srgbClr val="0070C0"/>
                </a:solidFill>
                <a:latin typeface="Times New Roman"/>
                <a:ea typeface="Times New Roman"/>
                <a:cs typeface="Times New Roman"/>
                <a:sym typeface="Times New Roman"/>
              </a:rPr>
              <a:t>import plotly.plotly as py    #</a:t>
            </a:r>
            <a:r>
              <a:rPr lang="en-IN" sz="2000">
                <a:solidFill>
                  <a:srgbClr val="262626"/>
                </a:solidFill>
                <a:latin typeface="Times New Roman"/>
                <a:ea typeface="Times New Roman"/>
                <a:cs typeface="Times New Roman"/>
                <a:sym typeface="Times New Roman"/>
              </a:rPr>
              <a:t>for sending things to plotly</a:t>
            </a:r>
            <a:endParaRPr sz="2000">
              <a:solidFill>
                <a:srgbClr val="262626"/>
              </a:solidFill>
              <a:latin typeface="Times New Roman"/>
              <a:ea typeface="Times New Roman"/>
              <a:cs typeface="Times New Roman"/>
              <a:sym typeface="Times New Roman"/>
            </a:endParaRPr>
          </a:p>
          <a:p>
            <a:pPr indent="0" lvl="0" marL="25400" rtl="0" algn="l">
              <a:lnSpc>
                <a:spcPct val="100000"/>
              </a:lnSpc>
              <a:spcBef>
                <a:spcPts val="640"/>
              </a:spcBef>
              <a:spcAft>
                <a:spcPts val="0"/>
              </a:spcAft>
              <a:buSzPts val="3200"/>
              <a:buNone/>
            </a:pPr>
            <a:r>
              <a:rPr i="1" lang="en-IN" sz="2000">
                <a:solidFill>
                  <a:srgbClr val="0070C0"/>
                </a:solidFill>
                <a:latin typeface="Times New Roman"/>
                <a:ea typeface="Times New Roman"/>
                <a:cs typeface="Times New Roman"/>
                <a:sym typeface="Times New Roman"/>
              </a:rPr>
              <a:t>import plotly.tools as tls    #</a:t>
            </a:r>
            <a:r>
              <a:rPr lang="en-IN" sz="2000">
                <a:solidFill>
                  <a:srgbClr val="262626"/>
                </a:solidFill>
                <a:latin typeface="Times New Roman"/>
                <a:ea typeface="Times New Roman"/>
                <a:cs typeface="Times New Roman"/>
                <a:sym typeface="Times New Roman"/>
              </a:rPr>
              <a:t>for mpl, config, etc.</a:t>
            </a:r>
            <a:endParaRPr/>
          </a:p>
          <a:p>
            <a:pPr indent="0" lvl="0" marL="25400" rtl="0" algn="l">
              <a:lnSpc>
                <a:spcPct val="100000"/>
              </a:lnSpc>
              <a:spcBef>
                <a:spcPts val="640"/>
              </a:spcBef>
              <a:spcAft>
                <a:spcPts val="0"/>
              </a:spcAft>
              <a:buSzPts val="3200"/>
              <a:buNone/>
            </a:pPr>
            <a:r>
              <a:t/>
            </a:r>
            <a:endParaRPr sz="2000">
              <a:solidFill>
                <a:srgbClr val="262626"/>
              </a:solidFill>
              <a:latin typeface="Times New Roman"/>
              <a:ea typeface="Times New Roman"/>
              <a:cs typeface="Times New Roman"/>
              <a:sym typeface="Times New Roman"/>
            </a:endParaRPr>
          </a:p>
          <a:p>
            <a:pPr indent="0" lvl="0" marL="25400" rtl="0" algn="l">
              <a:lnSpc>
                <a:spcPct val="100000"/>
              </a:lnSpc>
              <a:spcBef>
                <a:spcPts val="640"/>
              </a:spcBef>
              <a:spcAft>
                <a:spcPts val="0"/>
              </a:spcAft>
              <a:buSzPts val="3200"/>
              <a:buNone/>
            </a:pPr>
            <a:r>
              <a:rPr lang="en-IN" sz="2000">
                <a:latin typeface="Times New Roman"/>
                <a:ea typeface="Times New Roman"/>
                <a:cs typeface="Times New Roman"/>
                <a:sym typeface="Times New Roman"/>
              </a:rPr>
              <a:t>Here’s how you plot data or a figure:</a:t>
            </a:r>
            <a:endParaRPr/>
          </a:p>
          <a:p>
            <a:pPr indent="0" lvl="0" marL="25400" rtl="0" algn="l">
              <a:lnSpc>
                <a:spcPct val="100000"/>
              </a:lnSpc>
              <a:spcBef>
                <a:spcPts val="640"/>
              </a:spcBef>
              <a:spcAft>
                <a:spcPts val="0"/>
              </a:spcAft>
              <a:buSzPts val="3200"/>
              <a:buNone/>
            </a:pPr>
            <a:r>
              <a:rPr i="1" lang="en-IN" sz="2000">
                <a:solidFill>
                  <a:srgbClr val="0070C0"/>
                </a:solidFill>
                <a:latin typeface="Times New Roman"/>
                <a:ea typeface="Times New Roman"/>
                <a:cs typeface="Times New Roman"/>
                <a:sym typeface="Times New Roman"/>
              </a:rPr>
              <a:t>py.plot(data_or_figure_here)</a:t>
            </a:r>
            <a:endParaRPr i="1" sz="2000">
              <a:solidFill>
                <a:srgbClr val="0070C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Types of data</a:t>
            </a:r>
            <a:endParaRPr/>
          </a:p>
        </p:txBody>
      </p:sp>
      <p:grpSp>
        <p:nvGrpSpPr>
          <p:cNvPr id="209" name="Google Shape;209;p13"/>
          <p:cNvGrpSpPr/>
          <p:nvPr/>
        </p:nvGrpSpPr>
        <p:grpSpPr>
          <a:xfrm>
            <a:off x="842524" y="2624782"/>
            <a:ext cx="10506951" cy="2753022"/>
            <a:chOff x="4324" y="799157"/>
            <a:chExt cx="10506951" cy="2753022"/>
          </a:xfrm>
        </p:grpSpPr>
        <p:sp>
          <p:nvSpPr>
            <p:cNvPr id="210" name="Google Shape;210;p13"/>
            <p:cNvSpPr/>
            <p:nvPr/>
          </p:nvSpPr>
          <p:spPr>
            <a:xfrm>
              <a:off x="4324" y="1380070"/>
              <a:ext cx="2020567" cy="1010283"/>
            </a:xfrm>
            <a:prstGeom prst="roundRect">
              <a:avLst>
                <a:gd fmla="val 10000" name="adj"/>
              </a:avLst>
            </a:prstGeom>
            <a:gradFill>
              <a:gsLst>
                <a:gs pos="0">
                  <a:schemeClr val="lt1"/>
                </a:gs>
                <a:gs pos="35000">
                  <a:schemeClr val="lt1"/>
                </a:gs>
                <a:gs pos="100000">
                  <a:schemeClr val="lt1"/>
                </a:gs>
              </a:gsLst>
              <a:lin ang="16200000" scaled="0"/>
            </a:gra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3"/>
            <p:cNvSpPr txBox="1"/>
            <p:nvPr/>
          </p:nvSpPr>
          <p:spPr>
            <a:xfrm>
              <a:off x="33914" y="1409660"/>
              <a:ext cx="1961387" cy="951103"/>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rgbClr val="000000"/>
                </a:buClr>
                <a:buSzPts val="2900"/>
                <a:buFont typeface="Arial"/>
                <a:buNone/>
              </a:pPr>
              <a:r>
                <a:rPr b="0" i="0" lang="en-IN" sz="2900" u="none" cap="none" strike="noStrike">
                  <a:solidFill>
                    <a:schemeClr val="dk1"/>
                  </a:solidFill>
                  <a:latin typeface="Arial"/>
                  <a:ea typeface="Arial"/>
                  <a:cs typeface="Arial"/>
                  <a:sym typeface="Arial"/>
                </a:rPr>
                <a:t>Data types</a:t>
              </a:r>
              <a:endParaRPr b="0" i="0" sz="1400" u="none" cap="none" strike="noStrike">
                <a:solidFill>
                  <a:srgbClr val="000000"/>
                </a:solidFill>
                <a:latin typeface="Arial"/>
                <a:ea typeface="Arial"/>
                <a:cs typeface="Arial"/>
                <a:sym typeface="Arial"/>
              </a:endParaRPr>
            </a:p>
          </p:txBody>
        </p:sp>
        <p:sp>
          <p:nvSpPr>
            <p:cNvPr id="212" name="Google Shape;212;p13"/>
            <p:cNvSpPr/>
            <p:nvPr/>
          </p:nvSpPr>
          <p:spPr>
            <a:xfrm rot="-2142401">
              <a:off x="1931338" y="1573859"/>
              <a:ext cx="995334" cy="41791"/>
            </a:xfrm>
            <a:custGeom>
              <a:rect b="b" l="l" r="r" t="t"/>
              <a:pathLst>
                <a:path extrusionOk="0" h="120000" w="120000">
                  <a:moveTo>
                    <a:pt x="0" y="59999"/>
                  </a:moveTo>
                  <a:lnTo>
                    <a:pt x="120000" y="59999"/>
                  </a:lnTo>
                </a:path>
              </a:pathLst>
            </a:custGeom>
            <a:noFill/>
            <a:ln cap="flat" cmpd="sng" w="25400">
              <a:solidFill>
                <a:srgbClr val="7A94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3"/>
            <p:cNvSpPr txBox="1"/>
            <p:nvPr/>
          </p:nvSpPr>
          <p:spPr>
            <a:xfrm rot="-2142401">
              <a:off x="2404121" y="1569872"/>
              <a:ext cx="49766" cy="497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214" name="Google Shape;214;p13"/>
            <p:cNvSpPr/>
            <p:nvPr/>
          </p:nvSpPr>
          <p:spPr>
            <a:xfrm>
              <a:off x="2833118" y="799157"/>
              <a:ext cx="2020567" cy="1010283"/>
            </a:xfrm>
            <a:prstGeom prst="roundRect">
              <a:avLst>
                <a:gd fmla="val 10000" name="adj"/>
              </a:avLst>
            </a:prstGeom>
            <a:gradFill>
              <a:gsLst>
                <a:gs pos="0">
                  <a:schemeClr val="lt1"/>
                </a:gs>
                <a:gs pos="35000">
                  <a:schemeClr val="lt1"/>
                </a:gs>
                <a:gs pos="100000">
                  <a:schemeClr val="lt1"/>
                </a:gs>
              </a:gsLst>
              <a:lin ang="16200000" scaled="0"/>
            </a:gra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3"/>
            <p:cNvSpPr txBox="1"/>
            <p:nvPr/>
          </p:nvSpPr>
          <p:spPr>
            <a:xfrm>
              <a:off x="2862708" y="828747"/>
              <a:ext cx="1961387" cy="951103"/>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rgbClr val="000000"/>
                </a:buClr>
                <a:buSzPts val="2900"/>
                <a:buFont typeface="Arial"/>
                <a:buNone/>
              </a:pPr>
              <a:r>
                <a:rPr b="0" i="0" lang="en-IN" sz="2900" u="none" cap="none" strike="noStrike">
                  <a:solidFill>
                    <a:schemeClr val="dk1"/>
                  </a:solidFill>
                  <a:latin typeface="Arial"/>
                  <a:ea typeface="Arial"/>
                  <a:cs typeface="Arial"/>
                  <a:sym typeface="Arial"/>
                </a:rPr>
                <a:t>Categorical</a:t>
              </a:r>
              <a:endParaRPr b="0" i="0" sz="1400" u="none" cap="none" strike="noStrike">
                <a:solidFill>
                  <a:srgbClr val="000000"/>
                </a:solidFill>
                <a:latin typeface="Arial"/>
                <a:ea typeface="Arial"/>
                <a:cs typeface="Arial"/>
                <a:sym typeface="Arial"/>
              </a:endParaRPr>
            </a:p>
          </p:txBody>
        </p:sp>
        <p:sp>
          <p:nvSpPr>
            <p:cNvPr id="216" name="Google Shape;216;p13"/>
            <p:cNvSpPr/>
            <p:nvPr/>
          </p:nvSpPr>
          <p:spPr>
            <a:xfrm rot="2142401">
              <a:off x="1931338" y="2154773"/>
              <a:ext cx="995334" cy="41791"/>
            </a:xfrm>
            <a:custGeom>
              <a:rect b="b" l="l" r="r" t="t"/>
              <a:pathLst>
                <a:path extrusionOk="0" h="120000" w="120000">
                  <a:moveTo>
                    <a:pt x="0" y="59999"/>
                  </a:moveTo>
                  <a:lnTo>
                    <a:pt x="120000" y="59999"/>
                  </a:lnTo>
                </a:path>
              </a:pathLst>
            </a:custGeom>
            <a:noFill/>
            <a:ln cap="flat" cmpd="sng" w="25400">
              <a:solidFill>
                <a:srgbClr val="7A94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3"/>
            <p:cNvSpPr txBox="1"/>
            <p:nvPr/>
          </p:nvSpPr>
          <p:spPr>
            <a:xfrm rot="2142401">
              <a:off x="2404121" y="2150785"/>
              <a:ext cx="49766" cy="497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218" name="Google Shape;218;p13"/>
            <p:cNvSpPr/>
            <p:nvPr/>
          </p:nvSpPr>
          <p:spPr>
            <a:xfrm>
              <a:off x="2833118" y="1960983"/>
              <a:ext cx="2020567" cy="1010283"/>
            </a:xfrm>
            <a:prstGeom prst="roundRect">
              <a:avLst>
                <a:gd fmla="val 10000" name="adj"/>
              </a:avLst>
            </a:prstGeom>
            <a:gradFill>
              <a:gsLst>
                <a:gs pos="0">
                  <a:schemeClr val="lt1"/>
                </a:gs>
                <a:gs pos="35000">
                  <a:schemeClr val="lt1"/>
                </a:gs>
                <a:gs pos="100000">
                  <a:schemeClr val="lt1"/>
                </a:gs>
              </a:gsLst>
              <a:lin ang="16200000" scaled="0"/>
            </a:gra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3"/>
            <p:cNvSpPr txBox="1"/>
            <p:nvPr/>
          </p:nvSpPr>
          <p:spPr>
            <a:xfrm>
              <a:off x="2862708" y="1990573"/>
              <a:ext cx="1961387" cy="951103"/>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rgbClr val="000000"/>
                </a:buClr>
                <a:buSzPts val="2900"/>
                <a:buFont typeface="Arial"/>
                <a:buNone/>
              </a:pPr>
              <a:r>
                <a:rPr b="0" i="0" lang="en-IN" sz="2900" u="none" cap="none" strike="noStrike">
                  <a:solidFill>
                    <a:schemeClr val="dk1"/>
                  </a:solidFill>
                  <a:latin typeface="Arial"/>
                  <a:ea typeface="Arial"/>
                  <a:cs typeface="Arial"/>
                  <a:sym typeface="Arial"/>
                </a:rPr>
                <a:t>Numeric</a:t>
              </a:r>
              <a:endParaRPr b="0" i="0" sz="2900" u="none" cap="none" strike="noStrike">
                <a:solidFill>
                  <a:schemeClr val="dk1"/>
                </a:solidFill>
                <a:latin typeface="Arial"/>
                <a:ea typeface="Arial"/>
                <a:cs typeface="Arial"/>
                <a:sym typeface="Arial"/>
              </a:endParaRPr>
            </a:p>
          </p:txBody>
        </p:sp>
        <p:sp>
          <p:nvSpPr>
            <p:cNvPr id="220" name="Google Shape;220;p13"/>
            <p:cNvSpPr/>
            <p:nvPr/>
          </p:nvSpPr>
          <p:spPr>
            <a:xfrm rot="-2142401">
              <a:off x="4760132" y="2154773"/>
              <a:ext cx="995334" cy="41791"/>
            </a:xfrm>
            <a:custGeom>
              <a:rect b="b" l="l" r="r" t="t"/>
              <a:pathLst>
                <a:path extrusionOk="0" h="120000" w="120000">
                  <a:moveTo>
                    <a:pt x="0" y="59999"/>
                  </a:moveTo>
                  <a:lnTo>
                    <a:pt x="120000" y="59999"/>
                  </a:lnTo>
                </a:path>
              </a:pathLst>
            </a:custGeom>
            <a:noFill/>
            <a:ln cap="flat" cmpd="sng" w="25400">
              <a:solidFill>
                <a:srgbClr val="8CA8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3"/>
            <p:cNvSpPr txBox="1"/>
            <p:nvPr/>
          </p:nvSpPr>
          <p:spPr>
            <a:xfrm rot="-2142401">
              <a:off x="5232916" y="2150785"/>
              <a:ext cx="49766" cy="497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222" name="Google Shape;222;p13"/>
            <p:cNvSpPr/>
            <p:nvPr/>
          </p:nvSpPr>
          <p:spPr>
            <a:xfrm>
              <a:off x="5661913" y="1380070"/>
              <a:ext cx="2020567" cy="1010283"/>
            </a:xfrm>
            <a:prstGeom prst="roundRect">
              <a:avLst>
                <a:gd fmla="val 10000" name="adj"/>
              </a:avLst>
            </a:prstGeom>
            <a:gradFill>
              <a:gsLst>
                <a:gs pos="0">
                  <a:schemeClr val="lt1"/>
                </a:gs>
                <a:gs pos="35000">
                  <a:schemeClr val="lt1"/>
                </a:gs>
                <a:gs pos="100000">
                  <a:schemeClr val="lt1"/>
                </a:gs>
              </a:gsLst>
              <a:lin ang="16200000" scaled="0"/>
            </a:gra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3"/>
            <p:cNvSpPr txBox="1"/>
            <p:nvPr/>
          </p:nvSpPr>
          <p:spPr>
            <a:xfrm>
              <a:off x="5691503" y="1409660"/>
              <a:ext cx="1961387" cy="951103"/>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rgbClr val="000000"/>
                </a:buClr>
                <a:buSzPts val="2900"/>
                <a:buFont typeface="Arial"/>
                <a:buNone/>
              </a:pPr>
              <a:r>
                <a:rPr b="0" i="0" lang="en-IN" sz="2900" u="none" cap="none" strike="noStrike">
                  <a:solidFill>
                    <a:schemeClr val="dk1"/>
                  </a:solidFill>
                  <a:latin typeface="Arial"/>
                  <a:ea typeface="Arial"/>
                  <a:cs typeface="Arial"/>
                  <a:sym typeface="Arial"/>
                </a:rPr>
                <a:t>Discrete</a:t>
              </a:r>
              <a:endParaRPr b="0" i="0" sz="1400" u="none" cap="none" strike="noStrike">
                <a:solidFill>
                  <a:srgbClr val="000000"/>
                </a:solidFill>
                <a:latin typeface="Arial"/>
                <a:ea typeface="Arial"/>
                <a:cs typeface="Arial"/>
                <a:sym typeface="Arial"/>
              </a:endParaRPr>
            </a:p>
          </p:txBody>
        </p:sp>
        <p:sp>
          <p:nvSpPr>
            <p:cNvPr id="224" name="Google Shape;224;p13"/>
            <p:cNvSpPr/>
            <p:nvPr/>
          </p:nvSpPr>
          <p:spPr>
            <a:xfrm>
              <a:off x="7682481" y="1864316"/>
              <a:ext cx="808227" cy="41791"/>
            </a:xfrm>
            <a:custGeom>
              <a:rect b="b" l="l" r="r" t="t"/>
              <a:pathLst>
                <a:path extrusionOk="0" h="120000" w="120000">
                  <a:moveTo>
                    <a:pt x="0" y="59999"/>
                  </a:moveTo>
                  <a:lnTo>
                    <a:pt x="120000" y="59999"/>
                  </a:lnTo>
                </a:path>
              </a:pathLst>
            </a:custGeom>
            <a:noFill/>
            <a:ln cap="flat" cmpd="sng" w="25400">
              <a:solidFill>
                <a:srgbClr val="8CA8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3"/>
            <p:cNvSpPr txBox="1"/>
            <p:nvPr/>
          </p:nvSpPr>
          <p:spPr>
            <a:xfrm>
              <a:off x="8066388" y="1865006"/>
              <a:ext cx="40411" cy="4041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226" name="Google Shape;226;p13"/>
            <p:cNvSpPr/>
            <p:nvPr/>
          </p:nvSpPr>
          <p:spPr>
            <a:xfrm>
              <a:off x="8490708" y="1380070"/>
              <a:ext cx="2020567" cy="1010283"/>
            </a:xfrm>
            <a:prstGeom prst="roundRect">
              <a:avLst>
                <a:gd fmla="val 10000" name="adj"/>
              </a:avLst>
            </a:prstGeom>
            <a:gradFill>
              <a:gsLst>
                <a:gs pos="0">
                  <a:schemeClr val="lt1"/>
                </a:gs>
                <a:gs pos="35000">
                  <a:schemeClr val="lt1"/>
                </a:gs>
                <a:gs pos="100000">
                  <a:schemeClr val="lt1"/>
                </a:gs>
              </a:gsLst>
              <a:lin ang="16200000" scaled="0"/>
            </a:gra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3"/>
            <p:cNvSpPr txBox="1"/>
            <p:nvPr/>
          </p:nvSpPr>
          <p:spPr>
            <a:xfrm>
              <a:off x="8520298" y="1409660"/>
              <a:ext cx="1961387" cy="951103"/>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rgbClr val="000000"/>
                </a:buClr>
                <a:buSzPts val="2900"/>
                <a:buFont typeface="Arial"/>
                <a:buNone/>
              </a:pPr>
              <a:r>
                <a:rPr b="0" i="0" lang="en-IN" sz="2900" u="none" cap="none" strike="noStrike">
                  <a:solidFill>
                    <a:schemeClr val="dk1"/>
                  </a:solidFill>
                  <a:latin typeface="Arial"/>
                  <a:ea typeface="Arial"/>
                  <a:cs typeface="Arial"/>
                  <a:sym typeface="Arial"/>
                </a:rPr>
                <a:t>Counting process</a:t>
              </a:r>
              <a:endParaRPr b="0" i="0" sz="1400" u="none" cap="none" strike="noStrike">
                <a:solidFill>
                  <a:srgbClr val="000000"/>
                </a:solidFill>
                <a:latin typeface="Arial"/>
                <a:ea typeface="Arial"/>
                <a:cs typeface="Arial"/>
                <a:sym typeface="Arial"/>
              </a:endParaRPr>
            </a:p>
          </p:txBody>
        </p:sp>
        <p:sp>
          <p:nvSpPr>
            <p:cNvPr id="228" name="Google Shape;228;p13"/>
            <p:cNvSpPr/>
            <p:nvPr/>
          </p:nvSpPr>
          <p:spPr>
            <a:xfrm rot="2142401">
              <a:off x="4760132" y="2735686"/>
              <a:ext cx="995334" cy="41791"/>
            </a:xfrm>
            <a:custGeom>
              <a:rect b="b" l="l" r="r" t="t"/>
              <a:pathLst>
                <a:path extrusionOk="0" h="120000" w="120000">
                  <a:moveTo>
                    <a:pt x="0" y="59999"/>
                  </a:moveTo>
                  <a:lnTo>
                    <a:pt x="120000" y="59999"/>
                  </a:lnTo>
                </a:path>
              </a:pathLst>
            </a:custGeom>
            <a:noFill/>
            <a:ln cap="flat" cmpd="sng" w="25400">
              <a:solidFill>
                <a:srgbClr val="8CA8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3"/>
            <p:cNvSpPr txBox="1"/>
            <p:nvPr/>
          </p:nvSpPr>
          <p:spPr>
            <a:xfrm rot="2142401">
              <a:off x="5232916" y="2731698"/>
              <a:ext cx="49766" cy="497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230" name="Google Shape;230;p13"/>
            <p:cNvSpPr/>
            <p:nvPr/>
          </p:nvSpPr>
          <p:spPr>
            <a:xfrm>
              <a:off x="5661913" y="2541896"/>
              <a:ext cx="2020567" cy="1010283"/>
            </a:xfrm>
            <a:prstGeom prst="roundRect">
              <a:avLst>
                <a:gd fmla="val 10000" name="adj"/>
              </a:avLst>
            </a:prstGeom>
            <a:gradFill>
              <a:gsLst>
                <a:gs pos="0">
                  <a:schemeClr val="lt1"/>
                </a:gs>
                <a:gs pos="35000">
                  <a:schemeClr val="lt1"/>
                </a:gs>
                <a:gs pos="100000">
                  <a:schemeClr val="lt1"/>
                </a:gs>
              </a:gsLst>
              <a:lin ang="16200000" scaled="0"/>
            </a:gra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3"/>
            <p:cNvSpPr txBox="1"/>
            <p:nvPr/>
          </p:nvSpPr>
          <p:spPr>
            <a:xfrm>
              <a:off x="5691503" y="2571486"/>
              <a:ext cx="1961387" cy="951103"/>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rgbClr val="000000"/>
                </a:buClr>
                <a:buSzPts val="2900"/>
                <a:buFont typeface="Arial"/>
                <a:buNone/>
              </a:pPr>
              <a:r>
                <a:rPr b="0" i="0" lang="en-IN" sz="2900" u="none" cap="none" strike="noStrike">
                  <a:solidFill>
                    <a:schemeClr val="dk1"/>
                  </a:solidFill>
                  <a:latin typeface="Arial"/>
                  <a:ea typeface="Arial"/>
                  <a:cs typeface="Arial"/>
                  <a:sym typeface="Arial"/>
                </a:rPr>
                <a:t>Continuous</a:t>
              </a:r>
              <a:endParaRPr b="0" i="0" sz="1400" u="none" cap="none" strike="noStrike">
                <a:solidFill>
                  <a:srgbClr val="000000"/>
                </a:solidFill>
                <a:latin typeface="Arial"/>
                <a:ea typeface="Arial"/>
                <a:cs typeface="Arial"/>
                <a:sym typeface="Arial"/>
              </a:endParaRPr>
            </a:p>
          </p:txBody>
        </p:sp>
        <p:sp>
          <p:nvSpPr>
            <p:cNvPr id="232" name="Google Shape;232;p13"/>
            <p:cNvSpPr/>
            <p:nvPr/>
          </p:nvSpPr>
          <p:spPr>
            <a:xfrm>
              <a:off x="7682481" y="3026142"/>
              <a:ext cx="808227" cy="41791"/>
            </a:xfrm>
            <a:custGeom>
              <a:rect b="b" l="l" r="r" t="t"/>
              <a:pathLst>
                <a:path extrusionOk="0" h="120000" w="120000">
                  <a:moveTo>
                    <a:pt x="0" y="59999"/>
                  </a:moveTo>
                  <a:lnTo>
                    <a:pt x="120000" y="59999"/>
                  </a:lnTo>
                </a:path>
              </a:pathLst>
            </a:custGeom>
            <a:noFill/>
            <a:ln cap="flat" cmpd="sng" w="25400">
              <a:solidFill>
                <a:srgbClr val="8CA8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3"/>
            <p:cNvSpPr txBox="1"/>
            <p:nvPr/>
          </p:nvSpPr>
          <p:spPr>
            <a:xfrm>
              <a:off x="8066388" y="3026833"/>
              <a:ext cx="40411" cy="4041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234" name="Google Shape;234;p13"/>
            <p:cNvSpPr/>
            <p:nvPr/>
          </p:nvSpPr>
          <p:spPr>
            <a:xfrm>
              <a:off x="8490708" y="2541896"/>
              <a:ext cx="2020567" cy="1010283"/>
            </a:xfrm>
            <a:prstGeom prst="roundRect">
              <a:avLst>
                <a:gd fmla="val 10000" name="adj"/>
              </a:avLst>
            </a:prstGeom>
            <a:gradFill>
              <a:gsLst>
                <a:gs pos="0">
                  <a:schemeClr val="lt1"/>
                </a:gs>
                <a:gs pos="35000">
                  <a:schemeClr val="lt1"/>
                </a:gs>
                <a:gs pos="100000">
                  <a:schemeClr val="lt1"/>
                </a:gs>
              </a:gsLst>
              <a:lin ang="16200000" scaled="0"/>
            </a:gra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3"/>
            <p:cNvSpPr txBox="1"/>
            <p:nvPr/>
          </p:nvSpPr>
          <p:spPr>
            <a:xfrm>
              <a:off x="8520298" y="2571486"/>
              <a:ext cx="1961387" cy="951103"/>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rgbClr val="000000"/>
                </a:buClr>
                <a:buSzPts val="2900"/>
                <a:buFont typeface="Arial"/>
                <a:buNone/>
              </a:pPr>
              <a:r>
                <a:rPr b="0" i="0" lang="en-IN" sz="2900" u="none" cap="none" strike="noStrike">
                  <a:solidFill>
                    <a:schemeClr val="dk1"/>
                  </a:solidFill>
                  <a:latin typeface="Arial"/>
                  <a:ea typeface="Arial"/>
                  <a:cs typeface="Arial"/>
                  <a:sym typeface="Arial"/>
                </a:rPr>
                <a:t>Measuring process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Chart selection</a:t>
            </a:r>
            <a:endParaRPr/>
          </a:p>
        </p:txBody>
      </p:sp>
      <p:graphicFrame>
        <p:nvGraphicFramePr>
          <p:cNvPr id="241" name="Google Shape;241;p14"/>
          <p:cNvGraphicFramePr/>
          <p:nvPr/>
        </p:nvGraphicFramePr>
        <p:xfrm>
          <a:off x="838200" y="1552575"/>
          <a:ext cx="3000000" cy="3000000"/>
        </p:xfrm>
        <a:graphic>
          <a:graphicData uri="http://schemas.openxmlformats.org/drawingml/2006/table">
            <a:tbl>
              <a:tblPr bandRow="1" firstRow="1">
                <a:noFill/>
                <a:tableStyleId>{2CFBCD75-9F95-470E-B6F1-64D8797DE3FE}</a:tableStyleId>
              </a:tblPr>
              <a:tblGrid>
                <a:gridCol w="1473200"/>
                <a:gridCol w="1498600"/>
                <a:gridCol w="2959825"/>
                <a:gridCol w="1507400"/>
                <a:gridCol w="3076575"/>
              </a:tblGrid>
              <a:tr h="494575">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X Variable</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Y Variable</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Purpose of analysis</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Type of chart</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Example</a:t>
                      </a:r>
                      <a:endParaRPr sz="1800" u="none" cap="none" strike="noStrike">
                        <a:latin typeface="Calibri"/>
                        <a:ea typeface="Calibri"/>
                        <a:cs typeface="Calibri"/>
                        <a:sym typeface="Calibri"/>
                      </a:endParaRPr>
                    </a:p>
                  </a:txBody>
                  <a:tcPr marT="0" marB="0" marR="68575" marL="68575"/>
                </a:tc>
              </a:tr>
              <a:tr h="846200">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Continuous (numerical)</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Continuous (numerical)</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How Y changes with X</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Scatter plot</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How cholesterol varies with Age?</a:t>
                      </a:r>
                      <a:endParaRPr sz="1800" u="none" cap="none" strike="noStrike">
                        <a:latin typeface="Calibri"/>
                        <a:ea typeface="Calibri"/>
                        <a:cs typeface="Calibri"/>
                        <a:sym typeface="Calibri"/>
                      </a:endParaRPr>
                    </a:p>
                  </a:txBody>
                  <a:tcPr marT="0" marB="0" marR="68575" marL="68575"/>
                </a:tc>
              </a:tr>
              <a:tr h="632275">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Continuous (numerical)</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Categorical</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How range of X varies for various category levels</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Box plot</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Cholesterol variation with Men and Women</a:t>
                      </a:r>
                      <a:endParaRPr sz="1800" u="none" cap="none" strike="noStrike">
                        <a:latin typeface="Calibri"/>
                        <a:ea typeface="Calibri"/>
                        <a:cs typeface="Calibri"/>
                        <a:sym typeface="Calibri"/>
                      </a:endParaRPr>
                    </a:p>
                  </a:txBody>
                  <a:tcPr marT="0" marB="0" marR="68575" marL="68575"/>
                </a:tc>
              </a:tr>
              <a:tr h="846200">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Categorical</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Categorical</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What is the number or % of records of X which falls under each category</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Stacked bar</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How many men have heart disease compared to women?</a:t>
                      </a:r>
                      <a:endParaRPr sz="1800" u="none" cap="none" strike="noStrike">
                        <a:latin typeface="Calibri"/>
                        <a:ea typeface="Calibri"/>
                        <a:cs typeface="Calibri"/>
                        <a:sym typeface="Calibri"/>
                      </a:endParaRPr>
                    </a:p>
                  </a:txBody>
                  <a:tcPr marT="0" marB="0" marR="68575" marL="68575"/>
                </a:tc>
              </a:tr>
              <a:tr h="418375">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Continuous</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Look at the distribution of the values of the X variable</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Histogram, boxplot</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Distribution of cholesterol ranges</a:t>
                      </a:r>
                      <a:endParaRPr sz="1800" u="none" cap="none" strike="noStrike">
                        <a:latin typeface="Calibri"/>
                        <a:ea typeface="Calibri"/>
                        <a:cs typeface="Calibri"/>
                        <a:sym typeface="Calibri"/>
                      </a:endParaRPr>
                    </a:p>
                  </a:txBody>
                  <a:tcPr marT="0" marB="0" marR="68575" marL="68575"/>
                </a:tc>
              </a:tr>
              <a:tr h="1274050">
                <a:tc gridSpan="2">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Impact of 2 X variables on a Y variable</a:t>
                      </a:r>
                      <a:endParaRPr sz="1800" u="none" cap="none" strike="noStrike">
                        <a:latin typeface="Calibri"/>
                        <a:ea typeface="Calibri"/>
                        <a:cs typeface="Calibri"/>
                        <a:sym typeface="Calibri"/>
                      </a:endParaRPr>
                    </a:p>
                  </a:txBody>
                  <a:tcPr marT="0" marB="0" marR="68575" marL="68575"/>
                </a:tc>
                <a:tc hMerge="1"/>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Facet_grid()</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800"/>
                        <a:buFont typeface="Arial"/>
                        <a:buNone/>
                      </a:pPr>
                      <a:r>
                        <a:rPr lang="en-IN" sz="1800" u="none" cap="none" strike="noStrike"/>
                        <a:t>Distribution of chol across mean and women – compared for people who have and don’t have heart disease</a:t>
                      </a:r>
                      <a:endParaRPr sz="18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5"/>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sz="3600"/>
              <a:t>Practical use cases of various visualization techniques</a:t>
            </a:r>
            <a:endParaRPr sz="3600"/>
          </a:p>
        </p:txBody>
      </p:sp>
      <p:sp>
        <p:nvSpPr>
          <p:cNvPr id="248" name="Google Shape;248;p15"/>
          <p:cNvSpPr txBox="1"/>
          <p:nvPr>
            <p:ph idx="1" type="body"/>
          </p:nvPr>
        </p:nvSpPr>
        <p:spPr>
          <a:xfrm>
            <a:off x="609600" y="1600200"/>
            <a:ext cx="109728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rPr lang="en-IN" u="sng"/>
              <a:t>Scatterplot</a:t>
            </a:r>
            <a:endParaRPr u="sng"/>
          </a:p>
          <a:p>
            <a:pPr indent="0" lvl="0" marL="0" rtl="0" algn="l">
              <a:lnSpc>
                <a:spcPct val="100000"/>
              </a:lnSpc>
              <a:spcBef>
                <a:spcPts val="640"/>
              </a:spcBef>
              <a:spcAft>
                <a:spcPts val="0"/>
              </a:spcAft>
              <a:buSzPts val="3200"/>
              <a:buNone/>
            </a:pPr>
            <a:r>
              <a:rPr lang="en-IN"/>
              <a:t>Relationship between customer age and average call duration in a telecom customer churn dataset</a:t>
            </a:r>
            <a:endParaRPr/>
          </a:p>
          <a:p>
            <a:pPr indent="0" lvl="0" marL="0" rtl="0" algn="l">
              <a:lnSpc>
                <a:spcPct val="100000"/>
              </a:lnSpc>
              <a:spcBef>
                <a:spcPts val="640"/>
              </a:spcBef>
              <a:spcAft>
                <a:spcPts val="0"/>
              </a:spcAft>
              <a:buSzPts val="3200"/>
              <a:buNone/>
            </a:pPr>
            <a:r>
              <a:rPr lang="en-IN"/>
              <a:t>How sales of a product varies with total minutes of advt aired </a:t>
            </a:r>
            <a:endParaRPr/>
          </a:p>
          <a:p>
            <a:pPr indent="0" lvl="0" marL="0" rtl="0" algn="l">
              <a:lnSpc>
                <a:spcPct val="100000"/>
              </a:lnSpc>
              <a:spcBef>
                <a:spcPts val="640"/>
              </a:spcBef>
              <a:spcAft>
                <a:spcPts val="0"/>
              </a:spcAft>
              <a:buSzPts val="3200"/>
              <a:buNone/>
            </a:pPr>
            <a:r>
              <a:rPr lang="en-IN"/>
              <a:t>How interest revenue of a customer varies with his annual income in a banks customer dataset</a:t>
            </a:r>
            <a:endParaRPr/>
          </a:p>
          <a:p>
            <a:pPr indent="0" lvl="0" marL="0" rtl="0" algn="l">
              <a:lnSpc>
                <a:spcPct val="100000"/>
              </a:lnSpc>
              <a:spcBef>
                <a:spcPts val="640"/>
              </a:spcBef>
              <a:spcAft>
                <a:spcPts val="0"/>
              </a:spcAft>
              <a:buSzPts val="3200"/>
              <a:buNone/>
            </a:pPr>
            <a:r>
              <a:rPr lang="en-IN"/>
              <a:t>Do cholesterol levels increase / decrease with a person’s blood sugar value?</a:t>
            </a:r>
            <a:endParaRPr/>
          </a:p>
          <a:p>
            <a:pPr indent="0" lvl="0" marL="0" rtl="0" algn="l">
              <a:lnSpc>
                <a:spcPct val="100000"/>
              </a:lnSpc>
              <a:spcBef>
                <a:spcPts val="640"/>
              </a:spcBef>
              <a:spcAft>
                <a:spcPts val="0"/>
              </a:spcAft>
              <a:buSzPts val="3200"/>
              <a:buNone/>
            </a:pPr>
            <a:r>
              <a:t/>
            </a:r>
            <a:endParaRPr/>
          </a:p>
          <a:p>
            <a:pPr indent="0" lvl="0" marL="0" rtl="0" algn="l">
              <a:lnSpc>
                <a:spcPct val="100000"/>
              </a:lnSpc>
              <a:spcBef>
                <a:spcPts val="640"/>
              </a:spcBef>
              <a:spcAft>
                <a:spcPts val="0"/>
              </a:spcAft>
              <a:buSzPts val="3200"/>
              <a:buNone/>
            </a:pPr>
            <a:r>
              <a:rPr lang="en-IN"/>
              <a:t> </a:t>
            </a:r>
            <a:endParaRPr/>
          </a:p>
        </p:txBody>
      </p:sp>
      <p:sp>
        <p:nvSpPr>
          <p:cNvPr id="249" name="Google Shape;249;p15"/>
          <p:cNvSpPr txBox="1"/>
          <p:nvPr>
            <p:ph idx="12" type="sldNum"/>
          </p:nvPr>
        </p:nvSpPr>
        <p:spPr>
          <a:xfrm>
            <a:off x="8737600" y="6477000"/>
            <a:ext cx="28449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595959"/>
              </a:buClr>
              <a:buSzPts val="1400"/>
              <a:buFont typeface="Candara"/>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6"/>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sz="3600"/>
              <a:t>Practical use cases of various visualization techniques</a:t>
            </a:r>
            <a:endParaRPr/>
          </a:p>
        </p:txBody>
      </p:sp>
      <p:sp>
        <p:nvSpPr>
          <p:cNvPr id="255" name="Google Shape;255;p16"/>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640"/>
              </a:spcBef>
              <a:spcAft>
                <a:spcPts val="0"/>
              </a:spcAft>
              <a:buSzPts val="3200"/>
              <a:buNone/>
            </a:pPr>
            <a:r>
              <a:rPr lang="en-IN" u="sng"/>
              <a:t>Boxplot</a:t>
            </a:r>
            <a:endParaRPr u="sng"/>
          </a:p>
          <a:p>
            <a:pPr indent="-431800" lvl="0" marL="457200" marR="0" rtl="0" algn="l">
              <a:lnSpc>
                <a:spcPct val="100000"/>
              </a:lnSpc>
              <a:spcBef>
                <a:spcPts val="640"/>
              </a:spcBef>
              <a:spcAft>
                <a:spcPts val="0"/>
              </a:spcAft>
              <a:buClr>
                <a:schemeClr val="dk1"/>
              </a:buClr>
              <a:buSzPts val="3200"/>
              <a:buFont typeface="Arial"/>
              <a:buChar char="•"/>
            </a:pPr>
            <a:r>
              <a:rPr lang="en-IN"/>
              <a:t>Comparison of incomes of customers who leave and stay with an organisation in a customer churn problem</a:t>
            </a:r>
            <a:endParaRPr/>
          </a:p>
          <a:p>
            <a:pPr indent="-431800" lvl="0" marL="457200" marR="0" rtl="0" algn="l">
              <a:lnSpc>
                <a:spcPct val="100000"/>
              </a:lnSpc>
              <a:spcBef>
                <a:spcPts val="640"/>
              </a:spcBef>
              <a:spcAft>
                <a:spcPts val="0"/>
              </a:spcAft>
              <a:buClr>
                <a:schemeClr val="dk1"/>
              </a:buClr>
              <a:buSzPts val="3200"/>
              <a:buFont typeface="Arial"/>
              <a:buChar char="•"/>
            </a:pPr>
            <a:r>
              <a:rPr lang="en-IN"/>
              <a:t>Comparison of years of experience of people who leave and stay in an organisation in an attrition dataset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sz="3200"/>
              <a:t>Practical use cases of various visualization techniques</a:t>
            </a:r>
            <a:endParaRPr/>
          </a:p>
        </p:txBody>
      </p:sp>
      <p:sp>
        <p:nvSpPr>
          <p:cNvPr id="261" name="Google Shape;261;p17"/>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640"/>
              </a:spcBef>
              <a:spcAft>
                <a:spcPts val="0"/>
              </a:spcAft>
              <a:buSzPts val="3200"/>
              <a:buNone/>
            </a:pPr>
            <a:r>
              <a:rPr lang="en-IN" u="sng"/>
              <a:t>Stacked barplot</a:t>
            </a:r>
            <a:endParaRPr u="sng"/>
          </a:p>
          <a:p>
            <a:pPr indent="-431800" lvl="0" marL="457200" marR="0" rtl="0" algn="l">
              <a:lnSpc>
                <a:spcPct val="100000"/>
              </a:lnSpc>
              <a:spcBef>
                <a:spcPts val="640"/>
              </a:spcBef>
              <a:spcAft>
                <a:spcPts val="0"/>
              </a:spcAft>
              <a:buClr>
                <a:schemeClr val="dk1"/>
              </a:buClr>
              <a:buSzPts val="3200"/>
              <a:buFont typeface="Arial"/>
              <a:buChar char="•"/>
            </a:pPr>
            <a:r>
              <a:rPr lang="en-IN"/>
              <a:t>Comparison of how % attrition varies between male and female</a:t>
            </a:r>
            <a:endParaRPr/>
          </a:p>
          <a:p>
            <a:pPr indent="-431800" lvl="0" marL="457200" marR="0" rtl="0" algn="l">
              <a:lnSpc>
                <a:spcPct val="100000"/>
              </a:lnSpc>
              <a:spcBef>
                <a:spcPts val="640"/>
              </a:spcBef>
              <a:spcAft>
                <a:spcPts val="0"/>
              </a:spcAft>
              <a:buClr>
                <a:schemeClr val="dk1"/>
              </a:buClr>
              <a:buSzPts val="3200"/>
              <a:buFont typeface="Arial"/>
              <a:buChar char="•"/>
            </a:pPr>
            <a:r>
              <a:rPr lang="en-IN"/>
              <a:t>Comparison of how customer churn varies between 3 different customer plans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type="title"/>
          </p:nvPr>
        </p:nvSpPr>
        <p:spPr>
          <a:xfrm>
            <a:off x="531812" y="968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480"/>
              </a:spcBef>
              <a:spcAft>
                <a:spcPts val="0"/>
              </a:spcAft>
              <a:buClr>
                <a:schemeClr val="dk1"/>
              </a:buClr>
              <a:buSzPts val="2400"/>
              <a:buNone/>
            </a:pPr>
            <a:r>
              <a:rPr lang="en-IN" sz="3600" u="sng">
                <a:latin typeface="Times New Roman"/>
                <a:ea typeface="Times New Roman"/>
                <a:cs typeface="Times New Roman"/>
                <a:sym typeface="Times New Roman"/>
              </a:rPr>
              <a:t>Hands-on Visualization techniques</a:t>
            </a:r>
            <a:endParaRPr sz="3600" u="sng"/>
          </a:p>
        </p:txBody>
      </p:sp>
      <p:sp>
        <p:nvSpPr>
          <p:cNvPr id="267" name="Google Shape;267;p18"/>
          <p:cNvSpPr txBox="1"/>
          <p:nvPr>
            <p:ph idx="1" type="body"/>
          </p:nvPr>
        </p:nvSpPr>
        <p:spPr>
          <a:xfrm>
            <a:off x="531800" y="1239824"/>
            <a:ext cx="11050500" cy="5237176"/>
          </a:xfrm>
          <a:prstGeom prst="rect">
            <a:avLst/>
          </a:prstGeom>
          <a:noFill/>
          <a:ln>
            <a:noFill/>
          </a:ln>
        </p:spPr>
        <p:txBody>
          <a:bodyPr anchorCtr="0" anchor="t" bIns="45700" lIns="91425" spcFirstLastPara="1" rIns="91425" wrap="square" tIns="45700">
            <a:noAutofit/>
          </a:bodyPr>
          <a:lstStyle/>
          <a:p>
            <a:pPr indent="0" lvl="0" marL="127000" marR="0" rtl="0" algn="l">
              <a:lnSpc>
                <a:spcPct val="100000"/>
              </a:lnSpc>
              <a:spcBef>
                <a:spcPts val="400"/>
              </a:spcBef>
              <a:spcAft>
                <a:spcPts val="0"/>
              </a:spcAft>
              <a:buClr>
                <a:schemeClr val="dk1"/>
              </a:buClr>
              <a:buSzPts val="2000"/>
              <a:buFont typeface="Arial"/>
              <a:buNone/>
            </a:pPr>
            <a:r>
              <a:rPr lang="en-IN" sz="2200">
                <a:latin typeface="Calibri"/>
                <a:ea typeface="Calibri"/>
                <a:cs typeface="Calibri"/>
                <a:sym typeface="Calibri"/>
              </a:rPr>
              <a:t>Automobile data taken from UCI </a:t>
            </a:r>
            <a:endParaRPr/>
          </a:p>
          <a:p>
            <a:pPr indent="0" lvl="0" marL="127000" rtl="0" algn="l">
              <a:lnSpc>
                <a:spcPct val="100000"/>
              </a:lnSpc>
              <a:spcBef>
                <a:spcPts val="400"/>
              </a:spcBef>
              <a:spcAft>
                <a:spcPts val="0"/>
              </a:spcAft>
              <a:buSzPts val="2000"/>
              <a:buNone/>
            </a:pPr>
            <a:r>
              <a:rPr lang="en-IN" sz="1800"/>
              <a:t>This data set consists of three types of entities: (a) the specification of an auto in terms of various characteristics, (b) its assigned insurance risk rating, (c) its normalized losses in use as compared to other cars. Below are some important functions to look over:</a:t>
            </a:r>
            <a:endParaRPr sz="1800">
              <a:latin typeface="Calibri"/>
              <a:ea typeface="Calibri"/>
              <a:cs typeface="Calibri"/>
              <a:sym typeface="Calibri"/>
            </a:endParaRPr>
          </a:p>
          <a:p>
            <a:pPr indent="0" lvl="0" marL="127000" marR="0" rtl="0" algn="l">
              <a:lnSpc>
                <a:spcPct val="100000"/>
              </a:lnSpc>
              <a:spcBef>
                <a:spcPts val="400"/>
              </a:spcBef>
              <a:spcAft>
                <a:spcPts val="0"/>
              </a:spcAft>
              <a:buClr>
                <a:schemeClr val="dk1"/>
              </a:buClr>
              <a:buSzPts val="2000"/>
              <a:buFont typeface="Arial"/>
              <a:buNone/>
            </a:pPr>
            <a:r>
              <a:t/>
            </a:r>
            <a:endParaRPr sz="2200">
              <a:latin typeface="Calibri"/>
              <a:ea typeface="Calibri"/>
              <a:cs typeface="Calibri"/>
              <a:sym typeface="Calibri"/>
            </a:endParaRPr>
          </a:p>
          <a:p>
            <a:pPr indent="0" lvl="0" marL="127000" marR="0" rtl="0" algn="l">
              <a:lnSpc>
                <a:spcPct val="100000"/>
              </a:lnSpc>
              <a:spcBef>
                <a:spcPts val="400"/>
              </a:spcBef>
              <a:spcAft>
                <a:spcPts val="0"/>
              </a:spcAft>
              <a:buClr>
                <a:schemeClr val="dk1"/>
              </a:buClr>
              <a:buSzPts val="2000"/>
              <a:buFont typeface="Arial"/>
              <a:buNone/>
            </a:pPr>
            <a:r>
              <a:rPr lang="en-IN" sz="2200">
                <a:latin typeface="Calibri"/>
                <a:ea typeface="Calibri"/>
                <a:cs typeface="Calibri"/>
                <a:sym typeface="Calibri"/>
              </a:rPr>
              <a:t>1. For Univariate distributions :</a:t>
            </a:r>
            <a:endParaRPr/>
          </a:p>
          <a:p>
            <a:pPr indent="0" lvl="0" marL="127000" marR="0" rtl="0" algn="l">
              <a:lnSpc>
                <a:spcPct val="100000"/>
              </a:lnSpc>
              <a:spcBef>
                <a:spcPts val="400"/>
              </a:spcBef>
              <a:spcAft>
                <a:spcPts val="0"/>
              </a:spcAft>
              <a:buClr>
                <a:schemeClr val="dk1"/>
              </a:buClr>
              <a:buSzPts val="2000"/>
              <a:buFont typeface="Arial"/>
              <a:buNone/>
            </a:pPr>
            <a:r>
              <a:rPr lang="en-IN" sz="2200">
                <a:latin typeface="Calibri"/>
                <a:ea typeface="Calibri"/>
                <a:cs typeface="Calibri"/>
                <a:sym typeface="Calibri"/>
              </a:rPr>
              <a:t>sns.distplot(auto[‘normalized_losses’])</a:t>
            </a:r>
            <a:endParaRPr/>
          </a:p>
          <a:p>
            <a:pPr indent="0" lvl="0" marL="127000" marR="0" rtl="0" algn="l">
              <a:lnSpc>
                <a:spcPct val="100000"/>
              </a:lnSpc>
              <a:spcBef>
                <a:spcPts val="400"/>
              </a:spcBef>
              <a:spcAft>
                <a:spcPts val="0"/>
              </a:spcAft>
              <a:buClr>
                <a:schemeClr val="dk1"/>
              </a:buClr>
              <a:buSzPts val="2000"/>
              <a:buFont typeface="Arial"/>
              <a:buNone/>
            </a:pPr>
            <a:r>
              <a:t/>
            </a:r>
            <a:endParaRPr sz="2200">
              <a:latin typeface="Calibri"/>
              <a:ea typeface="Calibri"/>
              <a:cs typeface="Calibri"/>
              <a:sym typeface="Calibri"/>
            </a:endParaRPr>
          </a:p>
          <a:p>
            <a:pPr indent="0" lvl="0" marL="127000" marR="0" rtl="0" algn="l">
              <a:lnSpc>
                <a:spcPct val="100000"/>
              </a:lnSpc>
              <a:spcBef>
                <a:spcPts val="400"/>
              </a:spcBef>
              <a:spcAft>
                <a:spcPts val="0"/>
              </a:spcAft>
              <a:buClr>
                <a:schemeClr val="dk1"/>
              </a:buClr>
              <a:buSzPts val="2000"/>
              <a:buFont typeface="Arial"/>
              <a:buNone/>
            </a:pPr>
            <a:r>
              <a:rPr lang="en-IN" sz="2200">
                <a:latin typeface="Calibri"/>
                <a:ea typeface="Calibri"/>
                <a:cs typeface="Calibri"/>
                <a:sym typeface="Calibri"/>
              </a:rPr>
              <a:t>2. For bivariate distributions :</a:t>
            </a:r>
            <a:endParaRPr/>
          </a:p>
          <a:p>
            <a:pPr indent="0" lvl="0" marL="127000" marR="0" rtl="0" algn="l">
              <a:lnSpc>
                <a:spcPct val="100000"/>
              </a:lnSpc>
              <a:spcBef>
                <a:spcPts val="400"/>
              </a:spcBef>
              <a:spcAft>
                <a:spcPts val="0"/>
              </a:spcAft>
              <a:buClr>
                <a:schemeClr val="dk1"/>
              </a:buClr>
              <a:buSzPts val="2000"/>
              <a:buFont typeface="Arial"/>
              <a:buNone/>
            </a:pPr>
            <a:r>
              <a:rPr lang="en-IN" sz="2200">
                <a:latin typeface="Calibri"/>
                <a:ea typeface="Calibri"/>
                <a:cs typeface="Calibri"/>
                <a:sym typeface="Calibri"/>
              </a:rPr>
              <a:t>sns.jointplot(auto[‘engine_size’], auto[‘horsepower’])</a:t>
            </a:r>
            <a:endParaRPr/>
          </a:p>
          <a:p>
            <a:pPr indent="0" lvl="0" marL="127000" marR="0" rtl="0" algn="l">
              <a:lnSpc>
                <a:spcPct val="100000"/>
              </a:lnSpc>
              <a:spcBef>
                <a:spcPts val="400"/>
              </a:spcBef>
              <a:spcAft>
                <a:spcPts val="0"/>
              </a:spcAft>
              <a:buClr>
                <a:schemeClr val="dk1"/>
              </a:buClr>
              <a:buSzPts val="2000"/>
              <a:buFont typeface="Arial"/>
              <a:buNone/>
            </a:pPr>
            <a:r>
              <a:t/>
            </a:r>
            <a:endParaRPr sz="2200">
              <a:latin typeface="Calibri"/>
              <a:ea typeface="Calibri"/>
              <a:cs typeface="Calibri"/>
              <a:sym typeface="Calibri"/>
            </a:endParaRPr>
          </a:p>
          <a:p>
            <a:pPr indent="0" lvl="0" marL="127000" marR="0" rtl="0" algn="l">
              <a:lnSpc>
                <a:spcPct val="100000"/>
              </a:lnSpc>
              <a:spcBef>
                <a:spcPts val="400"/>
              </a:spcBef>
              <a:spcAft>
                <a:spcPts val="0"/>
              </a:spcAft>
              <a:buClr>
                <a:schemeClr val="dk1"/>
              </a:buClr>
              <a:buSzPts val="2000"/>
              <a:buFont typeface="Arial"/>
              <a:buNone/>
            </a:pPr>
            <a:r>
              <a:rPr lang="en-IN" sz="2200">
                <a:latin typeface="Calibri"/>
                <a:ea typeface="Calibri"/>
                <a:cs typeface="Calibri"/>
                <a:sym typeface="Calibri"/>
              </a:rPr>
              <a:t>3. For multivariate distributions: </a:t>
            </a:r>
            <a:endParaRPr/>
          </a:p>
          <a:p>
            <a:pPr indent="0" lvl="0" marL="127000" marR="0" rtl="0" algn="l">
              <a:lnSpc>
                <a:spcPct val="100000"/>
              </a:lnSpc>
              <a:spcBef>
                <a:spcPts val="400"/>
              </a:spcBef>
              <a:spcAft>
                <a:spcPts val="0"/>
              </a:spcAft>
              <a:buClr>
                <a:schemeClr val="dk1"/>
              </a:buClr>
              <a:buSzPts val="2000"/>
              <a:buFont typeface="Arial"/>
              <a:buNone/>
            </a:pPr>
            <a:r>
              <a:rPr lang="en-IN" sz="2200">
                <a:latin typeface="Calibri"/>
                <a:ea typeface="Calibri"/>
                <a:cs typeface="Calibri"/>
                <a:sym typeface="Calibri"/>
              </a:rPr>
              <a:t>sns.pairplot(auto[[‘normalized_losses’, ‘engine_size’, ‘horsepower’]])</a:t>
            </a:r>
            <a:endParaRPr/>
          </a:p>
          <a:p>
            <a:pPr indent="0" lvl="0" marL="127000" marR="0" rtl="0" algn="l">
              <a:lnSpc>
                <a:spcPct val="100000"/>
              </a:lnSpc>
              <a:spcBef>
                <a:spcPts val="400"/>
              </a:spcBef>
              <a:spcAft>
                <a:spcPts val="0"/>
              </a:spcAft>
              <a:buClr>
                <a:schemeClr val="dk1"/>
              </a:buClr>
              <a:buSzPts val="2000"/>
              <a:buFont typeface="Arial"/>
              <a:buNone/>
            </a:pPr>
            <a:r>
              <a:t/>
            </a:r>
            <a:endParaRPr sz="2200">
              <a:latin typeface="Calibri"/>
              <a:ea typeface="Calibri"/>
              <a:cs typeface="Calibri"/>
              <a:sym typeface="Calibri"/>
            </a:endParaRPr>
          </a:p>
          <a:p>
            <a:pPr indent="0" lvl="0" marL="127000" marR="0" rtl="0" algn="l">
              <a:lnSpc>
                <a:spcPct val="100000"/>
              </a:lnSpc>
              <a:spcBef>
                <a:spcPts val="400"/>
              </a:spcBef>
              <a:spcAft>
                <a:spcPts val="0"/>
              </a:spcAft>
              <a:buClr>
                <a:schemeClr val="dk1"/>
              </a:buClr>
              <a:buSzPts val="2000"/>
              <a:buFont typeface="Arial"/>
              <a:buNone/>
            </a:pPr>
            <a:br>
              <a:rPr lang="en-IN" sz="2200">
                <a:latin typeface="Calibri"/>
                <a:ea typeface="Calibri"/>
                <a:cs typeface="Calibri"/>
                <a:sym typeface="Calibri"/>
              </a:rPr>
            </a:br>
            <a:endParaRPr i="0" sz="2200" u="none">
              <a:solidFill>
                <a:schemeClr val="dk1"/>
              </a:solidFill>
              <a:latin typeface="Calibri"/>
              <a:ea typeface="Calibri"/>
              <a:cs typeface="Calibri"/>
              <a:sym typeface="Calibri"/>
            </a:endParaRPr>
          </a:p>
        </p:txBody>
      </p:sp>
      <p:sp>
        <p:nvSpPr>
          <p:cNvPr id="268" name="Google Shape;268;p18"/>
          <p:cNvSpPr txBox="1"/>
          <p:nvPr/>
        </p:nvSpPr>
        <p:spPr>
          <a:xfrm>
            <a:off x="8737600" y="6477000"/>
            <a:ext cx="284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1400"/>
              <a:buFont typeface="Times New Roman"/>
              <a:buNone/>
            </a:pPr>
            <a:fld id="{00000000-1234-1234-1234-123412341234}" type="slidenum">
              <a:rPr b="0" i="0" lang="en-IN" sz="1400" u="none" cap="none" strike="noStrike">
                <a:solidFill>
                  <a:srgbClr val="595959"/>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9" name="Google Shape;269;p18"/>
          <p:cNvSpPr txBox="1"/>
          <p:nvPr/>
        </p:nvSpPr>
        <p:spPr>
          <a:xfrm>
            <a:off x="565150" y="5807075"/>
            <a:ext cx="8534400" cy="6445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imes New Roman"/>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Different Plots - Syntax</a:t>
            </a:r>
            <a:endParaRPr/>
          </a:p>
        </p:txBody>
      </p:sp>
      <p:sp>
        <p:nvSpPr>
          <p:cNvPr id="275" name="Google Shape;275;p19"/>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0" lvl="0" marL="127000" rtl="0" algn="l">
              <a:lnSpc>
                <a:spcPct val="100000"/>
              </a:lnSpc>
              <a:spcBef>
                <a:spcPts val="400"/>
              </a:spcBef>
              <a:spcAft>
                <a:spcPts val="0"/>
              </a:spcAft>
              <a:buSzPts val="2000"/>
              <a:buNone/>
            </a:pPr>
            <a:r>
              <a:rPr lang="en-IN" sz="2000">
                <a:latin typeface="Calibri"/>
                <a:ea typeface="Calibri"/>
                <a:cs typeface="Calibri"/>
                <a:sym typeface="Calibri"/>
              </a:rPr>
              <a:t>Different types of plotting functions between categorical and continuous variables:</a:t>
            </a:r>
            <a:endParaRPr/>
          </a:p>
          <a:p>
            <a:pPr indent="0" lvl="0" marL="127000" rtl="0" algn="l">
              <a:lnSpc>
                <a:spcPct val="100000"/>
              </a:lnSpc>
              <a:spcBef>
                <a:spcPts val="400"/>
              </a:spcBef>
              <a:spcAft>
                <a:spcPts val="0"/>
              </a:spcAft>
              <a:buSzPts val="2000"/>
              <a:buNone/>
            </a:pPr>
            <a:r>
              <a:rPr lang="en-IN" sz="2000">
                <a:latin typeface="Calibri"/>
                <a:ea typeface="Calibri"/>
                <a:cs typeface="Calibri"/>
                <a:sym typeface="Calibri"/>
              </a:rPr>
              <a:t>1.  sns.stripplot(auto[‘fuel_type’], auto[‘horsepower’])</a:t>
            </a:r>
            <a:endParaRPr sz="2000"/>
          </a:p>
          <a:p>
            <a:pPr indent="0" lvl="0" marL="25400" rtl="0" algn="l">
              <a:lnSpc>
                <a:spcPct val="100000"/>
              </a:lnSpc>
              <a:spcBef>
                <a:spcPts val="640"/>
              </a:spcBef>
              <a:spcAft>
                <a:spcPts val="0"/>
              </a:spcAft>
              <a:buSzPts val="3200"/>
              <a:buNone/>
            </a:pPr>
            <a:r>
              <a:rPr lang="en-IN" sz="2000"/>
              <a:t>2. </a:t>
            </a:r>
            <a:r>
              <a:rPr lang="en-IN" sz="2000">
                <a:latin typeface="Calibri"/>
                <a:ea typeface="Calibri"/>
                <a:cs typeface="Calibri"/>
                <a:sym typeface="Calibri"/>
              </a:rPr>
              <a:t>sns.stripplot(auto[‘fuel_type’], auto[‘horsepower’])</a:t>
            </a:r>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3. sns.boxplot(auto[‘number_of_doors’], auto[‘horsepower’])</a:t>
            </a:r>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4. sns.barplot(auto[‘body_style’], auto[‘horsepower’])</a:t>
            </a:r>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5. sns.countplot(auto[‘body_style’])</a:t>
            </a:r>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6. sns.pointplot(auto[‘fuel_system’],auto[‘horsepower’])</a:t>
            </a:r>
            <a:endParaRPr/>
          </a:p>
          <a:p>
            <a:pPr indent="0" lvl="0" marL="25400" rtl="0" algn="l">
              <a:lnSpc>
                <a:spcPct val="100000"/>
              </a:lnSpc>
              <a:spcBef>
                <a:spcPts val="640"/>
              </a:spcBef>
              <a:spcAft>
                <a:spcPts val="0"/>
              </a:spcAft>
              <a:buSzPts val="3200"/>
              <a:buNone/>
            </a:pPr>
            <a:r>
              <a:t/>
            </a:r>
            <a:endParaRPr sz="2000">
              <a:latin typeface="Calibri"/>
              <a:ea typeface="Calibri"/>
              <a:cs typeface="Calibri"/>
              <a:sym typeface="Calibri"/>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Factor plot between multiple categorical variables:</a:t>
            </a:r>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 sns.factorplot(x=“fuel_type”,</a:t>
            </a:r>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                            y=“horsepower”,</a:t>
            </a:r>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                            col=“engine_location”</a:t>
            </a:r>
            <a:endParaRPr/>
          </a:p>
          <a:p>
            <a:pPr indent="0" lvl="0" marL="25400" rtl="0" algn="l">
              <a:lnSpc>
                <a:spcPct val="100000"/>
              </a:lnSpc>
              <a:spcBef>
                <a:spcPts val="640"/>
              </a:spcBef>
              <a:spcAft>
                <a:spcPts val="0"/>
              </a:spcAft>
              <a:buSzPts val="3200"/>
              <a:buNone/>
            </a:pPr>
            <a:r>
              <a:rPr lang="en-IN" sz="2000">
                <a:latin typeface="Calibri"/>
                <a:ea typeface="Calibri"/>
                <a:cs typeface="Calibri"/>
                <a:sym typeface="Calibri"/>
              </a:rPr>
              <a:t>                             data= auto, kind=“swarm”) </a:t>
            </a:r>
            <a:endParaRPr sz="20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0"/>
          <p:cNvSpPr txBox="1"/>
          <p:nvPr>
            <p:ph type="title"/>
          </p:nvPr>
        </p:nvSpPr>
        <p:spPr>
          <a:xfrm>
            <a:off x="609600" y="274625"/>
            <a:ext cx="76902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a:t>Boxplot and five number summary</a:t>
            </a:r>
            <a:endParaRPr/>
          </a:p>
        </p:txBody>
      </p:sp>
      <p:pic>
        <p:nvPicPr>
          <p:cNvPr descr="Image result for five number summary" id="281" name="Google Shape;281;p20"/>
          <p:cNvPicPr preferRelativeResize="0"/>
          <p:nvPr>
            <p:ph idx="1" type="body"/>
          </p:nvPr>
        </p:nvPicPr>
        <p:blipFill rotWithShape="1">
          <a:blip r:embed="rId3">
            <a:alphaModFix/>
          </a:blip>
          <a:srcRect b="0" l="0" r="0" t="0"/>
          <a:stretch/>
        </p:blipFill>
        <p:spPr>
          <a:xfrm>
            <a:off x="2299843" y="2661925"/>
            <a:ext cx="6979200" cy="2667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5" name="Shape 285"/>
        <p:cNvGrpSpPr/>
        <p:nvPr/>
      </p:nvGrpSpPr>
      <p:grpSpPr>
        <a:xfrm>
          <a:off x="0" y="0"/>
          <a:ext cx="0" cy="0"/>
          <a:chOff x="0" y="0"/>
          <a:chExt cx="0" cy="0"/>
        </a:xfrm>
      </p:grpSpPr>
      <p:sp>
        <p:nvSpPr>
          <p:cNvPr id="286" name="Google Shape;286;p21"/>
          <p:cNvSpPr txBox="1"/>
          <p:nvPr>
            <p:ph type="title"/>
          </p:nvPr>
        </p:nvSpPr>
        <p:spPr>
          <a:xfrm>
            <a:off x="609600" y="222250"/>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4000"/>
              <a:buFont typeface="Times New Roman"/>
              <a:buNone/>
            </a:pPr>
            <a:r>
              <a:rPr lang="en-IN" sz="4000" u="sng">
                <a:latin typeface="Times New Roman"/>
                <a:ea typeface="Times New Roman"/>
                <a:cs typeface="Times New Roman"/>
                <a:sym typeface="Times New Roman"/>
              </a:rPr>
              <a:t>Numpy Lab exercises</a:t>
            </a:r>
            <a:endParaRPr/>
          </a:p>
        </p:txBody>
      </p:sp>
      <p:sp>
        <p:nvSpPr>
          <p:cNvPr id="287" name="Google Shape;287;p21"/>
          <p:cNvSpPr txBox="1"/>
          <p:nvPr>
            <p:ph idx="1" type="body"/>
          </p:nvPr>
        </p:nvSpPr>
        <p:spPr>
          <a:xfrm>
            <a:off x="609600" y="1371600"/>
            <a:ext cx="10972800" cy="5105400"/>
          </a:xfrm>
          <a:prstGeom prst="rect">
            <a:avLst/>
          </a:prstGeom>
          <a:noFill/>
          <a:ln>
            <a:noFill/>
          </a:ln>
        </p:spPr>
        <p:txBody>
          <a:bodyPr anchorCtr="0" anchor="t" bIns="45700" lIns="91425" spcFirstLastPara="1" rIns="91425" wrap="square" tIns="45700">
            <a:noAutofit/>
          </a:bodyPr>
          <a:lstStyle/>
          <a:p>
            <a:pPr indent="0" lvl="0" marL="342900" marR="0" rtl="0" algn="l">
              <a:lnSpc>
                <a:spcPct val="100000"/>
              </a:lnSpc>
              <a:spcBef>
                <a:spcPts val="0"/>
              </a:spcBef>
              <a:spcAft>
                <a:spcPts val="0"/>
              </a:spcAft>
              <a:buSzPts val="3200"/>
              <a:buNone/>
            </a:pPr>
            <a:r>
              <a:t/>
            </a:r>
            <a:endParaRPr sz="2000">
              <a:latin typeface="Calibri"/>
              <a:ea typeface="Calibri"/>
              <a:cs typeface="Calibri"/>
              <a:sym typeface="Calibri"/>
            </a:endParaRPr>
          </a:p>
          <a:p>
            <a:pPr indent="0" lvl="0" marL="0" marR="0" rtl="0" algn="l">
              <a:lnSpc>
                <a:spcPct val="100000"/>
              </a:lnSpc>
              <a:spcBef>
                <a:spcPts val="400"/>
              </a:spcBef>
              <a:spcAft>
                <a:spcPts val="0"/>
              </a:spcAft>
              <a:buSzPts val="3200"/>
              <a:buNone/>
            </a:pPr>
            <a:r>
              <a:rPr lang="en-IN" sz="2000">
                <a:latin typeface="Calibri"/>
                <a:ea typeface="Calibri"/>
                <a:cs typeface="Calibri"/>
                <a:sym typeface="Calibri"/>
              </a:rPr>
              <a:t>Some important functions:</a:t>
            </a:r>
            <a:endParaRPr/>
          </a:p>
          <a:p>
            <a:pPr indent="0" lvl="0" marL="0" rtl="0" algn="l">
              <a:lnSpc>
                <a:spcPct val="100000"/>
              </a:lnSpc>
              <a:spcBef>
                <a:spcPts val="400"/>
              </a:spcBef>
              <a:spcAft>
                <a:spcPts val="0"/>
              </a:spcAft>
              <a:buSzPts val="3200"/>
              <a:buNone/>
            </a:pPr>
            <a:r>
              <a:rPr lang="en-IN" sz="2000">
                <a:latin typeface="Calibri"/>
                <a:ea typeface="Calibri"/>
                <a:cs typeface="Calibri"/>
                <a:sym typeface="Calibri"/>
              </a:rPr>
              <a:t>1. For importing package</a:t>
            </a:r>
            <a:endParaRPr/>
          </a:p>
          <a:p>
            <a:pPr indent="0" lvl="1" marL="457200" rtl="0" algn="l">
              <a:lnSpc>
                <a:spcPct val="100000"/>
              </a:lnSpc>
              <a:spcBef>
                <a:spcPts val="400"/>
              </a:spcBef>
              <a:spcAft>
                <a:spcPts val="0"/>
              </a:spcAft>
              <a:buSzPts val="2800"/>
              <a:buNone/>
            </a:pPr>
            <a:r>
              <a:rPr i="1" lang="en-IN" sz="1600">
                <a:solidFill>
                  <a:srgbClr val="0070C0"/>
                </a:solidFill>
                <a:latin typeface="Calibri"/>
                <a:ea typeface="Calibri"/>
                <a:cs typeface="Calibri"/>
                <a:sym typeface="Calibri"/>
              </a:rPr>
              <a:t>import numpy as np</a:t>
            </a:r>
            <a:endParaRPr/>
          </a:p>
          <a:p>
            <a:pPr indent="0" lvl="0" marL="0" rtl="0" algn="l">
              <a:lnSpc>
                <a:spcPct val="100000"/>
              </a:lnSpc>
              <a:spcBef>
                <a:spcPts val="400"/>
              </a:spcBef>
              <a:spcAft>
                <a:spcPts val="0"/>
              </a:spcAft>
              <a:buSzPts val="3200"/>
              <a:buNone/>
            </a:pPr>
            <a:r>
              <a:rPr lang="en-IN" sz="2000">
                <a:solidFill>
                  <a:schemeClr val="dk1"/>
                </a:solidFill>
                <a:latin typeface="Calibri"/>
                <a:ea typeface="Calibri"/>
                <a:cs typeface="Calibri"/>
                <a:sym typeface="Calibri"/>
              </a:rPr>
              <a:t>2. Copy one array to another</a:t>
            </a:r>
            <a:endParaRPr/>
          </a:p>
          <a:p>
            <a:pPr indent="0" lvl="1" marL="457200" rtl="0" algn="l">
              <a:lnSpc>
                <a:spcPct val="100000"/>
              </a:lnSpc>
              <a:spcBef>
                <a:spcPts val="400"/>
              </a:spcBef>
              <a:spcAft>
                <a:spcPts val="0"/>
              </a:spcAft>
              <a:buSzPts val="2800"/>
              <a:buNone/>
            </a:pPr>
            <a:r>
              <a:rPr i="1" lang="en-IN" sz="1600">
                <a:solidFill>
                  <a:srgbClr val="0070C0"/>
                </a:solidFill>
                <a:latin typeface="Calibri"/>
                <a:ea typeface="Calibri"/>
                <a:cs typeface="Calibri"/>
                <a:sym typeface="Calibri"/>
              </a:rPr>
              <a:t>array_a=np.ones(20)</a:t>
            </a:r>
            <a:endParaRPr/>
          </a:p>
          <a:p>
            <a:pPr indent="0" lvl="1" marL="457200" rtl="0" algn="l">
              <a:lnSpc>
                <a:spcPct val="100000"/>
              </a:lnSpc>
              <a:spcBef>
                <a:spcPts val="400"/>
              </a:spcBef>
              <a:spcAft>
                <a:spcPts val="0"/>
              </a:spcAft>
              <a:buSzPts val="2800"/>
              <a:buNone/>
            </a:pPr>
            <a:r>
              <a:rPr i="1" lang="en-IN" sz="1600">
                <a:solidFill>
                  <a:srgbClr val="0070C0"/>
                </a:solidFill>
                <a:latin typeface="Calibri"/>
                <a:ea typeface="Calibri"/>
                <a:cs typeface="Calibri"/>
                <a:sym typeface="Calibri"/>
              </a:rPr>
              <a:t>array_copy=array.a_copy()</a:t>
            </a:r>
            <a:endParaRPr/>
          </a:p>
          <a:p>
            <a:pPr indent="0" lvl="1" marL="457200" rtl="0" algn="l">
              <a:lnSpc>
                <a:spcPct val="100000"/>
              </a:lnSpc>
              <a:spcBef>
                <a:spcPts val="400"/>
              </a:spcBef>
              <a:spcAft>
                <a:spcPts val="0"/>
              </a:spcAft>
              <a:buSzPts val="2800"/>
              <a:buNone/>
            </a:pPr>
            <a:r>
              <a:rPr i="1" lang="en-IN" sz="1600">
                <a:solidFill>
                  <a:srgbClr val="0070C0"/>
                </a:solidFill>
                <a:latin typeface="Calibri"/>
                <a:ea typeface="Calibri"/>
                <a:cs typeface="Calibri"/>
                <a:sym typeface="Calibri"/>
              </a:rPr>
              <a:t>array_copy</a:t>
            </a:r>
            <a:endParaRPr i="1" sz="1600">
              <a:solidFill>
                <a:srgbClr val="0070C0"/>
              </a:solidFill>
              <a:latin typeface="Calibri"/>
              <a:ea typeface="Calibri"/>
              <a:cs typeface="Calibri"/>
              <a:sym typeface="Calibri"/>
            </a:endParaRPr>
          </a:p>
          <a:p>
            <a:pPr indent="0" lvl="0" marL="0" rtl="0" algn="l">
              <a:lnSpc>
                <a:spcPct val="100000"/>
              </a:lnSpc>
              <a:spcBef>
                <a:spcPts val="400"/>
              </a:spcBef>
              <a:spcAft>
                <a:spcPts val="0"/>
              </a:spcAft>
              <a:buSzPts val="3200"/>
              <a:buNone/>
            </a:pPr>
            <a:r>
              <a:rPr lang="en-IN" sz="2000">
                <a:solidFill>
                  <a:schemeClr val="dk1"/>
                </a:solidFill>
                <a:latin typeface="Calibri"/>
                <a:ea typeface="Calibri"/>
                <a:cs typeface="Calibri"/>
                <a:sym typeface="Calibri"/>
              </a:rPr>
              <a:t>3. Create an array of all even integers from 2 to 10 </a:t>
            </a:r>
            <a:endParaRPr/>
          </a:p>
          <a:p>
            <a:pPr indent="0" lvl="1" marL="457200" rtl="0" algn="l">
              <a:lnSpc>
                <a:spcPct val="100000"/>
              </a:lnSpc>
              <a:spcBef>
                <a:spcPts val="400"/>
              </a:spcBef>
              <a:spcAft>
                <a:spcPts val="0"/>
              </a:spcAft>
              <a:buSzPts val="2800"/>
              <a:buNone/>
            </a:pPr>
            <a:r>
              <a:rPr i="1" lang="en-IN" sz="1600">
                <a:solidFill>
                  <a:srgbClr val="0070C0"/>
                </a:solidFill>
                <a:latin typeface="Calibri"/>
                <a:ea typeface="Calibri"/>
                <a:cs typeface="Calibri"/>
                <a:sym typeface="Calibri"/>
              </a:rPr>
              <a:t>a1=np.arrange(2,11,2)</a:t>
            </a:r>
            <a:endParaRPr/>
          </a:p>
          <a:p>
            <a:pPr indent="0" lvl="1" marL="457200" rtl="0" algn="l">
              <a:lnSpc>
                <a:spcPct val="100000"/>
              </a:lnSpc>
              <a:spcBef>
                <a:spcPts val="400"/>
              </a:spcBef>
              <a:spcAft>
                <a:spcPts val="0"/>
              </a:spcAft>
              <a:buSzPts val="2800"/>
              <a:buNone/>
            </a:pPr>
            <a:r>
              <a:rPr i="1" lang="en-IN" sz="1600">
                <a:solidFill>
                  <a:srgbClr val="0070C0"/>
                </a:solidFill>
                <a:latin typeface="Calibri"/>
                <a:ea typeface="Calibri"/>
                <a:cs typeface="Calibri"/>
                <a:sym typeface="Calibri"/>
              </a:rPr>
              <a:t>a1 </a:t>
            </a:r>
            <a:endParaRPr/>
          </a:p>
          <a:p>
            <a:pPr indent="0" lvl="0" marL="0" rtl="0" algn="l">
              <a:lnSpc>
                <a:spcPct val="100000"/>
              </a:lnSpc>
              <a:spcBef>
                <a:spcPts val="400"/>
              </a:spcBef>
              <a:spcAft>
                <a:spcPts val="0"/>
              </a:spcAft>
              <a:buSzPts val="3200"/>
              <a:buNone/>
            </a:pPr>
            <a:r>
              <a:rPr lang="en-IN" sz="2000">
                <a:solidFill>
                  <a:schemeClr val="dk1"/>
                </a:solidFill>
                <a:latin typeface="Calibri"/>
                <a:ea typeface="Calibri"/>
                <a:cs typeface="Calibri"/>
                <a:sym typeface="Calibri"/>
              </a:rPr>
              <a:t>4. Use 2 arrays as rows and create a matrix</a:t>
            </a:r>
            <a:endParaRPr/>
          </a:p>
          <a:p>
            <a:pPr indent="0" lvl="1" marL="457200" rtl="0" algn="l">
              <a:lnSpc>
                <a:spcPct val="100000"/>
              </a:lnSpc>
              <a:spcBef>
                <a:spcPts val="400"/>
              </a:spcBef>
              <a:spcAft>
                <a:spcPts val="0"/>
              </a:spcAft>
              <a:buSzPts val="2800"/>
              <a:buNone/>
            </a:pPr>
            <a:r>
              <a:rPr i="1" lang="en-IN" sz="1600">
                <a:solidFill>
                  <a:srgbClr val="0070C0"/>
                </a:solidFill>
                <a:latin typeface="Calibri"/>
                <a:ea typeface="Calibri"/>
                <a:cs typeface="Calibri"/>
                <a:sym typeface="Calibri"/>
              </a:rPr>
              <a:t>np.stack(a1,a2)</a:t>
            </a:r>
            <a:endParaRPr/>
          </a:p>
          <a:p>
            <a:pPr indent="0" lvl="0" marL="0" rtl="0" algn="l">
              <a:lnSpc>
                <a:spcPct val="100000"/>
              </a:lnSpc>
              <a:spcBef>
                <a:spcPts val="400"/>
              </a:spcBef>
              <a:spcAft>
                <a:spcPts val="0"/>
              </a:spcAft>
              <a:buSzPts val="3200"/>
              <a:buNone/>
            </a:pPr>
            <a:r>
              <a:t/>
            </a:r>
            <a:endParaRPr sz="2000">
              <a:solidFill>
                <a:schemeClr val="dk1"/>
              </a:solidFill>
              <a:latin typeface="Calibri"/>
              <a:ea typeface="Calibri"/>
              <a:cs typeface="Calibri"/>
              <a:sym typeface="Calibri"/>
            </a:endParaRPr>
          </a:p>
          <a:p>
            <a:pPr indent="-215900" lvl="0" marL="342900" marR="0" rtl="0" algn="l">
              <a:lnSpc>
                <a:spcPct val="100000"/>
              </a:lnSpc>
              <a:spcBef>
                <a:spcPts val="400"/>
              </a:spcBef>
              <a:spcAft>
                <a:spcPts val="0"/>
              </a:spcAft>
              <a:buClr>
                <a:schemeClr val="dk1"/>
              </a:buClr>
              <a:buSzPts val="2000"/>
              <a:buFont typeface="Arial"/>
              <a:buNone/>
            </a:pPr>
            <a:r>
              <a:t/>
            </a:r>
            <a:endParaRPr i="0" sz="2000" u="none">
              <a:solidFill>
                <a:schemeClr val="dk1"/>
              </a:solidFill>
              <a:latin typeface="Calibri"/>
              <a:ea typeface="Calibri"/>
              <a:cs typeface="Calibri"/>
              <a:sym typeface="Calibri"/>
            </a:endParaRPr>
          </a:p>
        </p:txBody>
      </p:sp>
      <p:sp>
        <p:nvSpPr>
          <p:cNvPr id="288" name="Google Shape;288;p21"/>
          <p:cNvSpPr txBox="1"/>
          <p:nvPr/>
        </p:nvSpPr>
        <p:spPr>
          <a:xfrm>
            <a:off x="8737600" y="6477000"/>
            <a:ext cx="2844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1400"/>
              <a:buFont typeface="Times New Roman"/>
              <a:buNone/>
            </a:pPr>
            <a:fld id="{00000000-1234-1234-1234-123412341234}" type="slidenum">
              <a:rPr b="0" i="0" lang="en-IN" sz="1400" u="none" cap="none" strike="noStrike">
                <a:solidFill>
                  <a:srgbClr val="595959"/>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3" name="Shape 293"/>
        <p:cNvGrpSpPr/>
        <p:nvPr/>
      </p:nvGrpSpPr>
      <p:grpSpPr>
        <a:xfrm>
          <a:off x="0" y="0"/>
          <a:ext cx="0" cy="0"/>
          <a:chOff x="0" y="0"/>
          <a:chExt cx="0" cy="0"/>
        </a:xfrm>
      </p:grpSpPr>
      <p:sp>
        <p:nvSpPr>
          <p:cNvPr id="294" name="Google Shape;294;p22"/>
          <p:cNvSpPr txBox="1"/>
          <p:nvPr>
            <p:ph idx="1" type="body"/>
          </p:nvPr>
        </p:nvSpPr>
        <p:spPr>
          <a:xfrm>
            <a:off x="609600" y="1600200"/>
            <a:ext cx="109728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rPr lang="en-IN" sz="1800">
                <a:latin typeface="Calibri"/>
                <a:ea typeface="Calibri"/>
                <a:cs typeface="Calibri"/>
                <a:sym typeface="Calibri"/>
              </a:rPr>
              <a:t>5. Create a matrix of shape 10x10 and replace the 0’s with the value 21</a:t>
            </a:r>
            <a:endParaRPr/>
          </a:p>
          <a:p>
            <a:pPr indent="0" lvl="1" marL="457200" rtl="0" algn="l">
              <a:lnSpc>
                <a:spcPct val="100000"/>
              </a:lnSpc>
              <a:spcBef>
                <a:spcPts val="560"/>
              </a:spcBef>
              <a:spcAft>
                <a:spcPts val="0"/>
              </a:spcAft>
              <a:buSzPts val="2800"/>
              <a:buNone/>
            </a:pPr>
            <a:r>
              <a:rPr i="1" lang="en-IN" sz="1400">
                <a:solidFill>
                  <a:srgbClr val="0070C0"/>
                </a:solidFill>
                <a:latin typeface="Calibri"/>
                <a:ea typeface="Calibri"/>
                <a:cs typeface="Calibri"/>
                <a:sym typeface="Calibri"/>
              </a:rPr>
              <a:t>arr=np.eye(10)</a:t>
            </a:r>
            <a:endParaRPr/>
          </a:p>
          <a:p>
            <a:pPr indent="0" lvl="1" marL="457200" rtl="0" algn="l">
              <a:lnSpc>
                <a:spcPct val="100000"/>
              </a:lnSpc>
              <a:spcBef>
                <a:spcPts val="560"/>
              </a:spcBef>
              <a:spcAft>
                <a:spcPts val="0"/>
              </a:spcAft>
              <a:buSzPts val="2800"/>
              <a:buNone/>
            </a:pPr>
            <a:r>
              <a:rPr i="1" lang="en-IN" sz="1400">
                <a:solidFill>
                  <a:srgbClr val="0070C0"/>
                </a:solidFill>
                <a:latin typeface="Calibri"/>
                <a:ea typeface="Calibri"/>
                <a:cs typeface="Calibri"/>
                <a:sym typeface="Calibri"/>
              </a:rPr>
              <a:t>arr[arr = = 0] = 21</a:t>
            </a:r>
            <a:endParaRPr/>
          </a:p>
          <a:p>
            <a:pPr indent="0" lvl="1" marL="457200" rtl="0" algn="l">
              <a:lnSpc>
                <a:spcPct val="100000"/>
              </a:lnSpc>
              <a:spcBef>
                <a:spcPts val="560"/>
              </a:spcBef>
              <a:spcAft>
                <a:spcPts val="0"/>
              </a:spcAft>
              <a:buSzPts val="2800"/>
              <a:buNone/>
            </a:pPr>
            <a:r>
              <a:rPr i="1" lang="en-IN" sz="1400">
                <a:solidFill>
                  <a:srgbClr val="0070C0"/>
                </a:solidFill>
                <a:latin typeface="Calibri"/>
                <a:ea typeface="Calibri"/>
                <a:cs typeface="Calibri"/>
                <a:sym typeface="Calibri"/>
              </a:rPr>
              <a:t>arr</a:t>
            </a:r>
            <a:endParaRPr i="1" sz="1400">
              <a:solidFill>
                <a:srgbClr val="0070C0"/>
              </a:solidFill>
              <a:latin typeface="Calibri"/>
              <a:ea typeface="Calibri"/>
              <a:cs typeface="Calibri"/>
              <a:sym typeface="Calibri"/>
            </a:endParaRPr>
          </a:p>
          <a:p>
            <a:pPr indent="0" lvl="0" marL="0" rtl="0" algn="l">
              <a:lnSpc>
                <a:spcPct val="100000"/>
              </a:lnSpc>
              <a:spcBef>
                <a:spcPts val="640"/>
              </a:spcBef>
              <a:spcAft>
                <a:spcPts val="0"/>
              </a:spcAft>
              <a:buSzPts val="3200"/>
              <a:buNone/>
            </a:pPr>
            <a:r>
              <a:rPr lang="en-IN" sz="1800">
                <a:solidFill>
                  <a:schemeClr val="dk1"/>
                </a:solidFill>
                <a:latin typeface="Calibri"/>
                <a:ea typeface="Calibri"/>
                <a:cs typeface="Calibri"/>
                <a:sym typeface="Calibri"/>
              </a:rPr>
              <a:t>6. Create an array of 30 linearly spaced points between 0 and 100</a:t>
            </a:r>
            <a:endParaRPr/>
          </a:p>
          <a:p>
            <a:pPr indent="0" lvl="1" marL="457200" rtl="0" algn="l">
              <a:lnSpc>
                <a:spcPct val="100000"/>
              </a:lnSpc>
              <a:spcBef>
                <a:spcPts val="560"/>
              </a:spcBef>
              <a:spcAft>
                <a:spcPts val="0"/>
              </a:spcAft>
              <a:buSzPts val="2800"/>
              <a:buNone/>
            </a:pPr>
            <a:r>
              <a:rPr i="1" lang="en-IN" sz="1400">
                <a:solidFill>
                  <a:srgbClr val="0070C0"/>
                </a:solidFill>
                <a:latin typeface="Calibri"/>
                <a:ea typeface="Calibri"/>
                <a:cs typeface="Calibri"/>
                <a:sym typeface="Calibri"/>
              </a:rPr>
              <a:t>np.linspace(0,100,30)</a:t>
            </a:r>
            <a:endParaRPr/>
          </a:p>
          <a:p>
            <a:pPr indent="0" lvl="0" marL="0" rtl="0" algn="l">
              <a:lnSpc>
                <a:spcPct val="100000"/>
              </a:lnSpc>
              <a:spcBef>
                <a:spcPts val="640"/>
              </a:spcBef>
              <a:spcAft>
                <a:spcPts val="0"/>
              </a:spcAft>
              <a:buSzPts val="3200"/>
              <a:buNone/>
            </a:pPr>
            <a:r>
              <a:rPr lang="en-IN" sz="1800">
                <a:solidFill>
                  <a:srgbClr val="1D1B10"/>
                </a:solidFill>
                <a:latin typeface="Calibri"/>
                <a:ea typeface="Calibri"/>
                <a:cs typeface="Calibri"/>
                <a:sym typeface="Calibri"/>
              </a:rPr>
              <a:t>7. Calculate standard deviation </a:t>
            </a:r>
            <a:endParaRPr/>
          </a:p>
          <a:p>
            <a:pPr indent="0" lvl="1" marL="457200" rtl="0" algn="l">
              <a:lnSpc>
                <a:spcPct val="100000"/>
              </a:lnSpc>
              <a:spcBef>
                <a:spcPts val="560"/>
              </a:spcBef>
              <a:spcAft>
                <a:spcPts val="0"/>
              </a:spcAft>
              <a:buSzPts val="2800"/>
              <a:buNone/>
            </a:pPr>
            <a:r>
              <a:rPr i="1" lang="en-IN" sz="1400">
                <a:solidFill>
                  <a:srgbClr val="0070C0"/>
                </a:solidFill>
                <a:latin typeface="Calibri"/>
                <a:ea typeface="Calibri"/>
                <a:cs typeface="Calibri"/>
                <a:sym typeface="Calibri"/>
              </a:rPr>
              <a:t>arr.std()</a:t>
            </a:r>
            <a:endParaRPr/>
          </a:p>
          <a:p>
            <a:pPr indent="0" lvl="0" marL="0" rtl="0" algn="l">
              <a:lnSpc>
                <a:spcPct val="100000"/>
              </a:lnSpc>
              <a:spcBef>
                <a:spcPts val="640"/>
              </a:spcBef>
              <a:spcAft>
                <a:spcPts val="0"/>
              </a:spcAft>
              <a:buSzPts val="3200"/>
              <a:buNone/>
            </a:pPr>
            <a:r>
              <a:t/>
            </a:r>
            <a:endParaRPr i="1" sz="1800">
              <a:solidFill>
                <a:srgbClr val="0070C0"/>
              </a:solidFill>
              <a:latin typeface="Calibri"/>
              <a:ea typeface="Calibri"/>
              <a:cs typeface="Calibri"/>
              <a:sym typeface="Calibri"/>
            </a:endParaRPr>
          </a:p>
        </p:txBody>
      </p:sp>
      <p:sp>
        <p:nvSpPr>
          <p:cNvPr id="295" name="Google Shape;295;p22"/>
          <p:cNvSpPr txBox="1"/>
          <p:nvPr>
            <p:ph idx="12" type="sldNum"/>
          </p:nvPr>
        </p:nvSpPr>
        <p:spPr>
          <a:xfrm>
            <a:off x="8737600" y="6477000"/>
            <a:ext cx="28449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595959"/>
              </a:buClr>
              <a:buSzPts val="1400"/>
              <a:buFont typeface="Candara"/>
              <a:buNone/>
            </a:pPr>
            <a:fld id="{00000000-1234-1234-1234-123412341234}" type="slidenum">
              <a:rPr lang="en-IN"/>
              <a:t>‹#›</a:t>
            </a:fld>
            <a:endParaRPr/>
          </a:p>
        </p:txBody>
      </p:sp>
      <p:sp>
        <p:nvSpPr>
          <p:cNvPr id="296" name="Google Shape;296;p22"/>
          <p:cNvSpPr txBox="1"/>
          <p:nvPr>
            <p:ph type="title"/>
          </p:nvPr>
        </p:nvSpPr>
        <p:spPr>
          <a:xfrm>
            <a:off x="609600" y="222250"/>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4000"/>
              <a:buFont typeface="Times New Roman"/>
              <a:buNone/>
            </a:pPr>
            <a:r>
              <a:rPr lang="en-IN" sz="4000" u="sng">
                <a:latin typeface="Times New Roman"/>
                <a:ea typeface="Times New Roman"/>
                <a:cs typeface="Times New Roman"/>
                <a:sym typeface="Times New Roman"/>
              </a:rPr>
              <a:t>Numpy Lab exercises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23"/>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u="sng"/>
              <a:t>Pandas lab exercises</a:t>
            </a:r>
            <a:endParaRPr u="sng"/>
          </a:p>
        </p:txBody>
      </p:sp>
      <p:sp>
        <p:nvSpPr>
          <p:cNvPr id="303" name="Google Shape;303;p23"/>
          <p:cNvSpPr txBox="1"/>
          <p:nvPr>
            <p:ph idx="1" type="body"/>
          </p:nvPr>
        </p:nvSpPr>
        <p:spPr>
          <a:xfrm>
            <a:off x="609600" y="1600200"/>
            <a:ext cx="109728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rPr lang="en-IN" sz="2000">
                <a:latin typeface="Calibri"/>
                <a:ea typeface="Calibri"/>
                <a:cs typeface="Calibri"/>
                <a:sym typeface="Calibri"/>
              </a:rPr>
              <a:t>Kaggle Automobile Dataset: </a:t>
            </a:r>
            <a:r>
              <a:rPr lang="en-IN" sz="2000" u="sng">
                <a:solidFill>
                  <a:schemeClr val="hlink"/>
                </a:solidFill>
                <a:latin typeface="Calibri"/>
                <a:ea typeface="Calibri"/>
                <a:cs typeface="Calibri"/>
                <a:sym typeface="Calibri"/>
                <a:hlinkClick r:id="rId3"/>
              </a:rPr>
              <a:t>https://www.kaggle.com/nisargpatel/automobiles/data</a:t>
            </a:r>
            <a:endParaRPr sz="2000">
              <a:latin typeface="Calibri"/>
              <a:ea typeface="Calibri"/>
              <a:cs typeface="Calibri"/>
              <a:sym typeface="Calibri"/>
            </a:endParaRPr>
          </a:p>
          <a:p>
            <a:pPr indent="0" lvl="0" marL="0" rtl="0" algn="l">
              <a:lnSpc>
                <a:spcPct val="100000"/>
              </a:lnSpc>
              <a:spcBef>
                <a:spcPts val="640"/>
              </a:spcBef>
              <a:spcAft>
                <a:spcPts val="0"/>
              </a:spcAft>
              <a:buSzPts val="3200"/>
              <a:buNone/>
            </a:pPr>
            <a:r>
              <a:rPr lang="en-IN" sz="2000">
                <a:latin typeface="Calibri"/>
                <a:ea typeface="Calibri"/>
                <a:cs typeface="Calibri"/>
                <a:sym typeface="Calibri"/>
              </a:rPr>
              <a:t>Questions and answers on related to the above data</a:t>
            </a:r>
            <a:endParaRPr/>
          </a:p>
          <a:p>
            <a:pPr indent="0" lvl="0" marL="0" rtl="0" algn="l">
              <a:lnSpc>
                <a:spcPct val="100000"/>
              </a:lnSpc>
              <a:spcBef>
                <a:spcPts val="640"/>
              </a:spcBef>
              <a:spcAft>
                <a:spcPts val="0"/>
              </a:spcAft>
              <a:buSzPts val="3200"/>
              <a:buNone/>
            </a:pPr>
            <a:r>
              <a:rPr lang="en-IN" sz="2000">
                <a:latin typeface="Calibri"/>
                <a:ea typeface="Calibri"/>
                <a:cs typeface="Calibri"/>
                <a:sym typeface="Calibri"/>
              </a:rPr>
              <a:t>1. Average price of all cars</a:t>
            </a:r>
            <a:endParaRPr/>
          </a:p>
          <a:p>
            <a:pPr indent="0" lvl="0" marL="0" rtl="0" algn="l">
              <a:lnSpc>
                <a:spcPct val="100000"/>
              </a:lnSpc>
              <a:spcBef>
                <a:spcPts val="640"/>
              </a:spcBef>
              <a:spcAft>
                <a:spcPts val="0"/>
              </a:spcAft>
              <a:buSzPts val="3200"/>
              <a:buNone/>
            </a:pPr>
            <a:r>
              <a:rPr i="1" lang="en-IN" sz="2000">
                <a:solidFill>
                  <a:srgbClr val="0070C0"/>
                </a:solidFill>
                <a:latin typeface="Calibri"/>
                <a:ea typeface="Calibri"/>
                <a:cs typeface="Calibri"/>
                <a:sym typeface="Calibri"/>
              </a:rPr>
              <a:t>auto[‘price’].mean()</a:t>
            </a:r>
            <a:endParaRPr/>
          </a:p>
          <a:p>
            <a:pPr indent="0" lvl="0" marL="0" rtl="0" algn="l">
              <a:lnSpc>
                <a:spcPct val="100000"/>
              </a:lnSpc>
              <a:spcBef>
                <a:spcPts val="640"/>
              </a:spcBef>
              <a:spcAft>
                <a:spcPts val="0"/>
              </a:spcAft>
              <a:buSzPts val="3200"/>
              <a:buNone/>
            </a:pPr>
            <a:r>
              <a:rPr lang="en-IN" sz="2000">
                <a:solidFill>
                  <a:srgbClr val="1D1B10"/>
                </a:solidFill>
                <a:latin typeface="Calibri"/>
                <a:ea typeface="Calibri"/>
                <a:cs typeface="Calibri"/>
                <a:sym typeface="Calibri"/>
              </a:rPr>
              <a:t>2.</a:t>
            </a:r>
            <a:r>
              <a:rPr lang="en-IN" sz="2000">
                <a:latin typeface="Calibri"/>
                <a:ea typeface="Calibri"/>
                <a:cs typeface="Calibri"/>
                <a:sym typeface="Calibri"/>
              </a:rPr>
              <a:t> Costliest make of car in the list</a:t>
            </a:r>
            <a:endParaRPr/>
          </a:p>
          <a:p>
            <a:pPr indent="0" lvl="0" marL="0" rtl="0" algn="l">
              <a:lnSpc>
                <a:spcPct val="100000"/>
              </a:lnSpc>
              <a:spcBef>
                <a:spcPts val="640"/>
              </a:spcBef>
              <a:spcAft>
                <a:spcPts val="0"/>
              </a:spcAft>
              <a:buSzPts val="3200"/>
              <a:buNone/>
            </a:pPr>
            <a:r>
              <a:rPr i="1" lang="en-IN" sz="2000">
                <a:solidFill>
                  <a:srgbClr val="0070C0"/>
                </a:solidFill>
                <a:latin typeface="Calibri"/>
                <a:ea typeface="Calibri"/>
                <a:cs typeface="Calibri"/>
                <a:sym typeface="Calibri"/>
              </a:rPr>
              <a:t>auto[auto[‘price’]==auto[‘price’].max()]</a:t>
            </a:r>
            <a:endParaRPr/>
          </a:p>
          <a:p>
            <a:pPr indent="0" lvl="0" marL="0" rtl="0" algn="l">
              <a:lnSpc>
                <a:spcPct val="100000"/>
              </a:lnSpc>
              <a:spcBef>
                <a:spcPts val="640"/>
              </a:spcBef>
              <a:spcAft>
                <a:spcPts val="0"/>
              </a:spcAft>
              <a:buSzPts val="3200"/>
              <a:buNone/>
            </a:pPr>
            <a:r>
              <a:rPr lang="en-IN" sz="2000">
                <a:solidFill>
                  <a:srgbClr val="0C0C0C"/>
                </a:solidFill>
                <a:latin typeface="Calibri"/>
                <a:ea typeface="Calibri"/>
                <a:cs typeface="Calibri"/>
                <a:sym typeface="Calibri"/>
              </a:rPr>
              <a:t>3. How many cars have horsepower greater than 100</a:t>
            </a:r>
            <a:endParaRPr/>
          </a:p>
          <a:p>
            <a:pPr indent="0" lvl="0" marL="0" rtl="0" algn="l">
              <a:lnSpc>
                <a:spcPct val="100000"/>
              </a:lnSpc>
              <a:spcBef>
                <a:spcPts val="640"/>
              </a:spcBef>
              <a:spcAft>
                <a:spcPts val="0"/>
              </a:spcAft>
              <a:buSzPts val="3200"/>
              <a:buNone/>
            </a:pPr>
            <a:r>
              <a:rPr i="1" lang="en-IN" sz="2000">
                <a:solidFill>
                  <a:srgbClr val="0070C0"/>
                </a:solidFill>
                <a:latin typeface="Calibri"/>
                <a:ea typeface="Calibri"/>
                <a:cs typeface="Calibri"/>
                <a:sym typeface="Calibri"/>
              </a:rPr>
              <a:t>auto[auto[‘horsepower’]&gt;100].count()</a:t>
            </a:r>
            <a:endParaRPr/>
          </a:p>
          <a:p>
            <a:pPr indent="0" lvl="0" marL="0" rtl="0" algn="l">
              <a:lnSpc>
                <a:spcPct val="100000"/>
              </a:lnSpc>
              <a:spcBef>
                <a:spcPts val="640"/>
              </a:spcBef>
              <a:spcAft>
                <a:spcPts val="0"/>
              </a:spcAft>
              <a:buSzPts val="3200"/>
              <a:buNone/>
            </a:pPr>
            <a:r>
              <a:rPr lang="en-IN" sz="2000">
                <a:solidFill>
                  <a:srgbClr val="0C0C0C"/>
                </a:solidFill>
                <a:latin typeface="Calibri"/>
                <a:ea typeface="Calibri"/>
                <a:cs typeface="Calibri"/>
                <a:sym typeface="Calibri"/>
              </a:rPr>
              <a:t>4. What are the 3 most commonly found cars in the dataset</a:t>
            </a:r>
            <a:endParaRPr/>
          </a:p>
          <a:p>
            <a:pPr indent="0" lvl="0" marL="0" rtl="0" algn="l">
              <a:lnSpc>
                <a:spcPct val="100000"/>
              </a:lnSpc>
              <a:spcBef>
                <a:spcPts val="640"/>
              </a:spcBef>
              <a:spcAft>
                <a:spcPts val="0"/>
              </a:spcAft>
              <a:buSzPts val="3200"/>
              <a:buNone/>
            </a:pPr>
            <a:r>
              <a:rPr i="1" lang="en-IN" sz="2000">
                <a:solidFill>
                  <a:srgbClr val="0070C0"/>
                </a:solidFill>
                <a:latin typeface="Calibri"/>
                <a:ea typeface="Calibri"/>
                <a:cs typeface="Calibri"/>
                <a:sym typeface="Calibri"/>
              </a:rPr>
              <a:t>auto[‘make’].value_counts().head(3)</a:t>
            </a:r>
            <a:endParaRPr/>
          </a:p>
          <a:p>
            <a:pPr indent="0" lvl="0" marL="0" rtl="0" algn="l">
              <a:lnSpc>
                <a:spcPct val="100000"/>
              </a:lnSpc>
              <a:spcBef>
                <a:spcPts val="640"/>
              </a:spcBef>
              <a:spcAft>
                <a:spcPts val="0"/>
              </a:spcAft>
              <a:buSzPts val="3200"/>
              <a:buNone/>
            </a:pPr>
            <a:r>
              <a:rPr lang="en-IN" sz="2000">
                <a:solidFill>
                  <a:srgbClr val="0C0C0C"/>
                </a:solidFill>
                <a:latin typeface="Calibri"/>
                <a:ea typeface="Calibri"/>
                <a:cs typeface="Calibri"/>
                <a:sym typeface="Calibri"/>
              </a:rPr>
              <a:t>5. Which cars are priced greater than 40000	</a:t>
            </a:r>
            <a:endParaRPr sz="2000">
              <a:solidFill>
                <a:srgbClr val="0C0C0C"/>
              </a:solidFill>
              <a:latin typeface="Calibri"/>
              <a:ea typeface="Calibri"/>
              <a:cs typeface="Calibri"/>
              <a:sym typeface="Calibri"/>
            </a:endParaRPr>
          </a:p>
          <a:p>
            <a:pPr indent="0" lvl="0" marL="0" rtl="0" algn="l">
              <a:lnSpc>
                <a:spcPct val="100000"/>
              </a:lnSpc>
              <a:spcBef>
                <a:spcPts val="640"/>
              </a:spcBef>
              <a:spcAft>
                <a:spcPts val="0"/>
              </a:spcAft>
              <a:buSzPts val="3200"/>
              <a:buNone/>
            </a:pPr>
            <a:r>
              <a:rPr i="1" lang="en-IN" sz="2000">
                <a:solidFill>
                  <a:srgbClr val="0070C0"/>
                </a:solidFill>
                <a:latin typeface="Calibri"/>
                <a:ea typeface="Calibri"/>
                <a:cs typeface="Calibri"/>
                <a:sym typeface="Calibri"/>
              </a:rPr>
              <a:t>auto[auto[“price”]&gt;40000</a:t>
            </a:r>
            <a:endParaRPr i="1" sz="2000">
              <a:solidFill>
                <a:srgbClr val="0070C0"/>
              </a:solidFill>
              <a:latin typeface="Calibri"/>
              <a:ea typeface="Calibri"/>
              <a:cs typeface="Calibri"/>
              <a:sym typeface="Calibri"/>
            </a:endParaRPr>
          </a:p>
        </p:txBody>
      </p:sp>
      <p:sp>
        <p:nvSpPr>
          <p:cNvPr id="304" name="Google Shape;304;p23"/>
          <p:cNvSpPr txBox="1"/>
          <p:nvPr>
            <p:ph idx="12" type="sldNum"/>
          </p:nvPr>
        </p:nvSpPr>
        <p:spPr>
          <a:xfrm>
            <a:off x="8737600" y="6477000"/>
            <a:ext cx="28449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595959"/>
              </a:buClr>
              <a:buSzPts val="1400"/>
              <a:buFont typeface="Candara"/>
              <a:buNone/>
            </a:pPr>
            <a:fld id="{00000000-1234-1234-1234-123412341234}" type="slidenum">
              <a:rPr lang="en-I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sz="2800" u="sng"/>
              <a:t>Pandas lab exercises with data visualization_part 1</a:t>
            </a:r>
            <a:endParaRPr sz="2800"/>
          </a:p>
        </p:txBody>
      </p:sp>
      <p:sp>
        <p:nvSpPr>
          <p:cNvPr id="311" name="Google Shape;311;p24"/>
          <p:cNvSpPr txBox="1"/>
          <p:nvPr>
            <p:ph idx="1" type="body"/>
          </p:nvPr>
        </p:nvSpPr>
        <p:spPr>
          <a:xfrm>
            <a:off x="609600" y="1600200"/>
            <a:ext cx="109728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rPr lang="en-IN" sz="2000"/>
              <a:t>Games dataset from kaggle: </a:t>
            </a:r>
            <a:r>
              <a:rPr lang="en-IN" sz="2000" u="sng">
                <a:solidFill>
                  <a:schemeClr val="hlink"/>
                </a:solidFill>
                <a:hlinkClick r:id="rId3"/>
              </a:rPr>
              <a:t>https://www.kaggle.com/gutsyrobot/games-data/data</a:t>
            </a:r>
            <a:endParaRPr sz="2000"/>
          </a:p>
          <a:p>
            <a:pPr indent="0" lvl="0" marL="0" rtl="0" algn="l">
              <a:lnSpc>
                <a:spcPct val="100000"/>
              </a:lnSpc>
              <a:spcBef>
                <a:spcPts val="640"/>
              </a:spcBef>
              <a:spcAft>
                <a:spcPts val="0"/>
              </a:spcAft>
              <a:buSzPts val="3200"/>
              <a:buNone/>
            </a:pPr>
            <a:r>
              <a:rPr lang="en-IN" sz="2000">
                <a:latin typeface="Calibri"/>
                <a:ea typeface="Calibri"/>
                <a:cs typeface="Calibri"/>
                <a:sym typeface="Calibri"/>
              </a:rPr>
              <a:t>Questions and answers on related to the above data</a:t>
            </a:r>
            <a:endParaRPr/>
          </a:p>
          <a:p>
            <a:pPr indent="0" lvl="0" marL="0" rtl="0" algn="l">
              <a:lnSpc>
                <a:spcPct val="100000"/>
              </a:lnSpc>
              <a:spcBef>
                <a:spcPts val="640"/>
              </a:spcBef>
              <a:spcAft>
                <a:spcPts val="0"/>
              </a:spcAft>
              <a:buSzPts val="3200"/>
              <a:buNone/>
            </a:pPr>
            <a:r>
              <a:rPr lang="en-IN" sz="1800"/>
              <a:t>1. What is the mean playing time for all games put together</a:t>
            </a:r>
            <a:endParaRPr/>
          </a:p>
          <a:p>
            <a:pPr indent="0" lvl="0" marL="0" rtl="0" algn="l">
              <a:lnSpc>
                <a:spcPct val="100000"/>
              </a:lnSpc>
              <a:spcBef>
                <a:spcPts val="640"/>
              </a:spcBef>
              <a:spcAft>
                <a:spcPts val="0"/>
              </a:spcAft>
              <a:buSzPts val="3200"/>
              <a:buNone/>
            </a:pPr>
            <a:r>
              <a:rPr i="1" lang="en-IN" sz="1800">
                <a:solidFill>
                  <a:srgbClr val="0070C0"/>
                </a:solidFill>
              </a:rPr>
              <a:t>games[‘playingtime’].mean()</a:t>
            </a:r>
            <a:endParaRPr/>
          </a:p>
          <a:p>
            <a:pPr indent="0" lvl="0" marL="0" rtl="0" algn="l">
              <a:lnSpc>
                <a:spcPct val="100000"/>
              </a:lnSpc>
              <a:spcBef>
                <a:spcPts val="640"/>
              </a:spcBef>
              <a:spcAft>
                <a:spcPts val="0"/>
              </a:spcAft>
              <a:buSzPts val="3200"/>
              <a:buNone/>
            </a:pPr>
            <a:r>
              <a:rPr lang="en-IN" sz="1800"/>
              <a:t>2. What is the highest number of comments received for a game?</a:t>
            </a:r>
            <a:endParaRPr/>
          </a:p>
          <a:p>
            <a:pPr indent="0" lvl="0" marL="0" rtl="0" algn="l">
              <a:lnSpc>
                <a:spcPct val="100000"/>
              </a:lnSpc>
              <a:spcBef>
                <a:spcPts val="640"/>
              </a:spcBef>
              <a:spcAft>
                <a:spcPts val="0"/>
              </a:spcAft>
              <a:buSzPts val="3200"/>
              <a:buNone/>
            </a:pPr>
            <a:r>
              <a:rPr i="1" lang="en-IN" sz="1800">
                <a:solidFill>
                  <a:srgbClr val="0070C0"/>
                </a:solidFill>
              </a:rPr>
              <a:t>games[‘total_comments’].max()</a:t>
            </a:r>
            <a:endParaRPr/>
          </a:p>
          <a:p>
            <a:pPr indent="0" lvl="0" marL="0" rtl="0" algn="l">
              <a:lnSpc>
                <a:spcPct val="100000"/>
              </a:lnSpc>
              <a:spcBef>
                <a:spcPts val="640"/>
              </a:spcBef>
              <a:spcAft>
                <a:spcPts val="0"/>
              </a:spcAft>
              <a:buSzPts val="3200"/>
              <a:buNone/>
            </a:pPr>
            <a:r>
              <a:rPr lang="en-IN" sz="1800"/>
              <a:t>3. What is the name of the game with ID 1500</a:t>
            </a:r>
            <a:endParaRPr/>
          </a:p>
          <a:p>
            <a:pPr indent="0" lvl="0" marL="0" rtl="0" algn="l">
              <a:lnSpc>
                <a:spcPct val="100000"/>
              </a:lnSpc>
              <a:spcBef>
                <a:spcPts val="640"/>
              </a:spcBef>
              <a:spcAft>
                <a:spcPts val="0"/>
              </a:spcAft>
              <a:buSzPts val="3200"/>
              <a:buNone/>
            </a:pPr>
            <a:r>
              <a:rPr i="1" lang="en-IN" sz="1800">
                <a:solidFill>
                  <a:srgbClr val="0070C0"/>
                </a:solidFill>
              </a:rPr>
              <a:t>games[games[‘id’]==1500[‘name’]</a:t>
            </a:r>
            <a:endParaRPr/>
          </a:p>
          <a:p>
            <a:pPr indent="0" lvl="0" marL="0" rtl="0" algn="l">
              <a:lnSpc>
                <a:spcPct val="100000"/>
              </a:lnSpc>
              <a:spcBef>
                <a:spcPts val="640"/>
              </a:spcBef>
              <a:spcAft>
                <a:spcPts val="0"/>
              </a:spcAft>
              <a:buSzPts val="3200"/>
              <a:buNone/>
            </a:pPr>
            <a:r>
              <a:rPr lang="en-IN" sz="1800"/>
              <a:t>4. Which game received highest number of comments?</a:t>
            </a:r>
            <a:endParaRPr/>
          </a:p>
          <a:p>
            <a:pPr indent="0" lvl="0" marL="0" rtl="0" algn="l">
              <a:lnSpc>
                <a:spcPct val="100000"/>
              </a:lnSpc>
              <a:spcBef>
                <a:spcPts val="640"/>
              </a:spcBef>
              <a:spcAft>
                <a:spcPts val="0"/>
              </a:spcAft>
              <a:buSzPts val="3200"/>
              <a:buNone/>
            </a:pPr>
            <a:r>
              <a:rPr i="1" lang="en-IN" sz="1800">
                <a:solidFill>
                  <a:srgbClr val="0070C0"/>
                </a:solidFill>
              </a:rPr>
              <a:t>games[games[‘total_comments’]==games[‘total_comments’].max()]</a:t>
            </a:r>
            <a:endParaRPr/>
          </a:p>
          <a:p>
            <a:pPr indent="0" lvl="0" marL="0" rtl="0" algn="l">
              <a:lnSpc>
                <a:spcPct val="100000"/>
              </a:lnSpc>
              <a:spcBef>
                <a:spcPts val="640"/>
              </a:spcBef>
              <a:spcAft>
                <a:spcPts val="0"/>
              </a:spcAft>
              <a:buSzPts val="3200"/>
              <a:buNone/>
            </a:pPr>
            <a:r>
              <a:rPr lang="en-IN" sz="1800"/>
              <a:t>5. What was the average minage of all games per “type”?</a:t>
            </a:r>
            <a:endParaRPr/>
          </a:p>
          <a:p>
            <a:pPr indent="0" lvl="0" marL="0" rtl="0" algn="l">
              <a:lnSpc>
                <a:spcPct val="100000"/>
              </a:lnSpc>
              <a:spcBef>
                <a:spcPts val="640"/>
              </a:spcBef>
              <a:spcAft>
                <a:spcPts val="0"/>
              </a:spcAft>
              <a:buSzPts val="3200"/>
              <a:buNone/>
            </a:pPr>
            <a:r>
              <a:rPr i="1" lang="en-IN" sz="1800">
                <a:solidFill>
                  <a:srgbClr val="0070C0"/>
                </a:solidFill>
              </a:rPr>
              <a:t>games.groupby(‘type’).mean()[‘minage’]</a:t>
            </a:r>
            <a:endParaRPr i="1" sz="1800">
              <a:solidFill>
                <a:srgbClr val="0070C0"/>
              </a:solidFill>
            </a:endParaRPr>
          </a:p>
        </p:txBody>
      </p:sp>
      <p:sp>
        <p:nvSpPr>
          <p:cNvPr id="312" name="Google Shape;312;p24"/>
          <p:cNvSpPr txBox="1"/>
          <p:nvPr>
            <p:ph idx="12" type="sldNum"/>
          </p:nvPr>
        </p:nvSpPr>
        <p:spPr>
          <a:xfrm>
            <a:off x="8737600" y="6477000"/>
            <a:ext cx="28449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595959"/>
              </a:buClr>
              <a:buSzPts val="1400"/>
              <a:buFont typeface="Candara"/>
              <a:buNone/>
            </a:pPr>
            <a:fld id="{00000000-1234-1234-1234-123412341234}" type="slidenum">
              <a:rPr lang="en-I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 name="Shape 316"/>
        <p:cNvGrpSpPr/>
        <p:nvPr/>
      </p:nvGrpSpPr>
      <p:grpSpPr>
        <a:xfrm>
          <a:off x="0" y="0"/>
          <a:ext cx="0" cy="0"/>
          <a:chOff x="0" y="0"/>
          <a:chExt cx="0" cy="0"/>
        </a:xfrm>
      </p:grpSpPr>
      <p:sp>
        <p:nvSpPr>
          <p:cNvPr id="317" name="Google Shape;317;p25"/>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IN" sz="3200" u="sng"/>
              <a:t>Data Visualization using seaborn_part 2</a:t>
            </a:r>
            <a:endParaRPr sz="3200" u="sng"/>
          </a:p>
        </p:txBody>
      </p:sp>
      <p:sp>
        <p:nvSpPr>
          <p:cNvPr id="318" name="Google Shape;318;p25"/>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p>
            <a:pPr indent="0" lvl="0" marL="25400" rtl="0" algn="l">
              <a:lnSpc>
                <a:spcPct val="100000"/>
              </a:lnSpc>
              <a:spcBef>
                <a:spcPts val="640"/>
              </a:spcBef>
              <a:spcAft>
                <a:spcPts val="0"/>
              </a:spcAft>
              <a:buSzPts val="3200"/>
              <a:buNone/>
            </a:pPr>
            <a:r>
              <a:rPr lang="en-IN" sz="2000"/>
              <a:t>Questions and Answers</a:t>
            </a:r>
            <a:endParaRPr/>
          </a:p>
          <a:p>
            <a:pPr indent="0" lvl="0" marL="25400" rtl="0" algn="l">
              <a:lnSpc>
                <a:spcPct val="100000"/>
              </a:lnSpc>
              <a:spcBef>
                <a:spcPts val="640"/>
              </a:spcBef>
              <a:spcAft>
                <a:spcPts val="0"/>
              </a:spcAft>
              <a:buSzPts val="3200"/>
              <a:buNone/>
            </a:pPr>
            <a:r>
              <a:rPr lang="en-IN" sz="2000"/>
              <a:t>1. Import the seaborn library and set colour codes as true.</a:t>
            </a:r>
            <a:endParaRPr/>
          </a:p>
          <a:p>
            <a:pPr indent="0" lvl="0" marL="25400" rtl="0" algn="l">
              <a:lnSpc>
                <a:spcPct val="100000"/>
              </a:lnSpc>
              <a:spcBef>
                <a:spcPts val="640"/>
              </a:spcBef>
              <a:spcAft>
                <a:spcPts val="0"/>
              </a:spcAft>
              <a:buSzPts val="3200"/>
              <a:buNone/>
            </a:pPr>
            <a:r>
              <a:rPr i="1" lang="en-IN" sz="2000">
                <a:solidFill>
                  <a:srgbClr val="0070C0"/>
                </a:solidFill>
              </a:rPr>
              <a:t>import seaborn as sns</a:t>
            </a:r>
            <a:endParaRPr i="1" sz="2000">
              <a:solidFill>
                <a:srgbClr val="0070C0"/>
              </a:solidFill>
            </a:endParaRPr>
          </a:p>
          <a:p>
            <a:pPr indent="0" lvl="0" marL="25400" rtl="0" algn="l">
              <a:lnSpc>
                <a:spcPct val="100000"/>
              </a:lnSpc>
              <a:spcBef>
                <a:spcPts val="640"/>
              </a:spcBef>
              <a:spcAft>
                <a:spcPts val="0"/>
              </a:spcAft>
              <a:buSzPts val="3200"/>
              <a:buNone/>
            </a:pPr>
            <a:r>
              <a:rPr i="1" lang="en-IN" sz="2000">
                <a:solidFill>
                  <a:srgbClr val="0070C0"/>
                </a:solidFill>
              </a:rPr>
              <a:t>sns.set(	color_codes=True)</a:t>
            </a:r>
            <a:endParaRPr/>
          </a:p>
          <a:p>
            <a:pPr indent="0" lvl="0" marL="25400" rtl="0" algn="l">
              <a:lnSpc>
                <a:spcPct val="100000"/>
              </a:lnSpc>
              <a:spcBef>
                <a:spcPts val="640"/>
              </a:spcBef>
              <a:spcAft>
                <a:spcPts val="0"/>
              </a:spcAft>
              <a:buSzPts val="3200"/>
              <a:buNone/>
            </a:pPr>
            <a:r>
              <a:rPr lang="en-IN" sz="2000"/>
              <a:t>2. Drop NA values for negating issues during visualizatuon </a:t>
            </a:r>
            <a:endParaRPr/>
          </a:p>
          <a:p>
            <a:pPr indent="0" lvl="0" marL="25400" rtl="0" algn="l">
              <a:lnSpc>
                <a:spcPct val="100000"/>
              </a:lnSpc>
              <a:spcBef>
                <a:spcPts val="640"/>
              </a:spcBef>
              <a:spcAft>
                <a:spcPts val="0"/>
              </a:spcAft>
              <a:buSzPts val="3200"/>
              <a:buNone/>
            </a:pPr>
            <a:r>
              <a:rPr i="1" lang="en-IN" sz="2000">
                <a:solidFill>
                  <a:srgbClr val="0070C0"/>
                </a:solidFill>
              </a:rPr>
              <a:t>games.dropna(inplace==True)</a:t>
            </a:r>
            <a:endParaRPr/>
          </a:p>
          <a:p>
            <a:pPr indent="0" lvl="0" marL="25400" rtl="0" algn="l">
              <a:lnSpc>
                <a:spcPct val="100000"/>
              </a:lnSpc>
              <a:spcBef>
                <a:spcPts val="640"/>
              </a:spcBef>
              <a:spcAft>
                <a:spcPts val="0"/>
              </a:spcAft>
              <a:buSzPts val="3200"/>
              <a:buNone/>
            </a:pPr>
            <a:r>
              <a:rPr lang="en-IN" sz="2000"/>
              <a:t>3. View the distance plot for minage</a:t>
            </a:r>
            <a:endParaRPr sz="2000"/>
          </a:p>
          <a:p>
            <a:pPr indent="0" lvl="0" marL="25400" rtl="0" algn="l">
              <a:lnSpc>
                <a:spcPct val="100000"/>
              </a:lnSpc>
              <a:spcBef>
                <a:spcPts val="640"/>
              </a:spcBef>
              <a:spcAft>
                <a:spcPts val="0"/>
              </a:spcAft>
              <a:buSzPts val="3200"/>
              <a:buNone/>
            </a:pPr>
            <a:r>
              <a:rPr i="1" lang="en-IN" sz="2000">
                <a:solidFill>
                  <a:srgbClr val="0070C0"/>
                </a:solidFill>
              </a:rPr>
              <a:t>sns.distplot(games[‘average_rating’])</a:t>
            </a:r>
            <a:endParaRPr/>
          </a:p>
          <a:p>
            <a:pPr indent="0" lvl="0" marL="25400" rtl="0" algn="l">
              <a:lnSpc>
                <a:spcPct val="100000"/>
              </a:lnSpc>
              <a:spcBef>
                <a:spcPts val="640"/>
              </a:spcBef>
              <a:spcAft>
                <a:spcPts val="0"/>
              </a:spcAft>
              <a:buSzPts val="3200"/>
              <a:buNone/>
            </a:pPr>
            <a:r>
              <a:rPr lang="en-IN" sz="2000"/>
              <a:t>4. Compare type of game and playingtime using  a stripplot</a:t>
            </a:r>
            <a:endParaRPr sz="2000"/>
          </a:p>
          <a:p>
            <a:pPr indent="0" lvl="0" marL="25400" rtl="0" algn="l">
              <a:lnSpc>
                <a:spcPct val="100000"/>
              </a:lnSpc>
              <a:spcBef>
                <a:spcPts val="640"/>
              </a:spcBef>
              <a:spcAft>
                <a:spcPts val="0"/>
              </a:spcAft>
              <a:buSzPts val="3200"/>
              <a:buNone/>
            </a:pPr>
            <a:r>
              <a:rPr i="1" lang="en-IN" sz="2000">
                <a:solidFill>
                  <a:srgbClr val="0070C0"/>
                </a:solidFill>
              </a:rPr>
              <a:t>sns.stripplot(games[‘type’], games[‘playingtime’], jitter= True)</a:t>
            </a:r>
            <a:endParaRPr i="1" sz="2000">
              <a:solidFill>
                <a:srgbClr val="0070C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u="sng"/>
              <a:t>Case Study</a:t>
            </a:r>
            <a:endParaRPr u="sng"/>
          </a:p>
        </p:txBody>
      </p:sp>
      <p:sp>
        <p:nvSpPr>
          <p:cNvPr id="325" name="Google Shape;325;p26"/>
          <p:cNvSpPr txBox="1"/>
          <p:nvPr>
            <p:ph idx="1" type="body"/>
          </p:nvPr>
        </p:nvSpPr>
        <p:spPr>
          <a:xfrm>
            <a:off x="609600" y="1600200"/>
            <a:ext cx="109728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rPr lang="en-IN" sz="2400"/>
              <a:t>Honey production data set- </a:t>
            </a:r>
            <a:endParaRPr sz="2400"/>
          </a:p>
          <a:p>
            <a:pPr indent="0" lvl="0" marL="0" rtl="0" algn="l">
              <a:lnSpc>
                <a:spcPct val="100000"/>
              </a:lnSpc>
              <a:spcBef>
                <a:spcPts val="640"/>
              </a:spcBef>
              <a:spcAft>
                <a:spcPts val="0"/>
              </a:spcAft>
              <a:buSzPts val="3200"/>
              <a:buNone/>
            </a:pPr>
            <a:r>
              <a:rPr lang="en-IN" sz="2400"/>
              <a:t>This dataset provides insight into honey production supply and demand in America by state from 1998 to 2012.</a:t>
            </a:r>
            <a:endParaRPr/>
          </a:p>
          <a:p>
            <a:pPr indent="0" lvl="0" marL="0" rtl="0" algn="l">
              <a:lnSpc>
                <a:spcPct val="100000"/>
              </a:lnSpc>
              <a:spcBef>
                <a:spcPts val="640"/>
              </a:spcBef>
              <a:spcAft>
                <a:spcPts val="0"/>
              </a:spcAft>
              <a:buSzPts val="3200"/>
              <a:buNone/>
            </a:pPr>
            <a:r>
              <a:t/>
            </a:r>
            <a:endParaRPr sz="2400"/>
          </a:p>
          <a:p>
            <a:pPr indent="0" lvl="0" marL="0" rtl="0" algn="l">
              <a:lnSpc>
                <a:spcPct val="100000"/>
              </a:lnSpc>
              <a:spcBef>
                <a:spcPts val="640"/>
              </a:spcBef>
              <a:spcAft>
                <a:spcPts val="0"/>
              </a:spcAft>
              <a:buSzPts val="3200"/>
              <a:buNone/>
            </a:pPr>
            <a:r>
              <a:rPr lang="en-IN" sz="2400"/>
              <a:t>Dataset - </a:t>
            </a:r>
            <a:endParaRPr sz="2400"/>
          </a:p>
          <a:p>
            <a:pPr indent="0" lvl="0" marL="0" rtl="0" algn="l">
              <a:lnSpc>
                <a:spcPct val="100000"/>
              </a:lnSpc>
              <a:spcBef>
                <a:spcPts val="640"/>
              </a:spcBef>
              <a:spcAft>
                <a:spcPts val="0"/>
              </a:spcAft>
              <a:buSzPts val="3200"/>
              <a:buNone/>
            </a:pPr>
            <a:r>
              <a:rPr lang="en-IN" sz="2400"/>
              <a:t>The dataset contains numcol, yieldprod, totalprod, stocks , priceperlb, prodvalue, and other useful information likeCertain states are excluded every year (ex. CT) to avoid disclosing data for individual operations. </a:t>
            </a:r>
            <a:endParaRPr sz="2400"/>
          </a:p>
          <a:p>
            <a:pPr indent="0" lvl="0" marL="0" rtl="0" algn="l">
              <a:lnSpc>
                <a:spcPct val="100000"/>
              </a:lnSpc>
              <a:spcBef>
                <a:spcPts val="640"/>
              </a:spcBef>
              <a:spcAft>
                <a:spcPts val="0"/>
              </a:spcAft>
              <a:buSzPts val="3200"/>
              <a:buNone/>
            </a:pPr>
            <a:r>
              <a:rPr lang="en-IN" sz="2400"/>
              <a:t>For Reference: </a:t>
            </a:r>
            <a:r>
              <a:rPr lang="en-IN" sz="2400" u="sng">
                <a:solidFill>
                  <a:schemeClr val="hlink"/>
                </a:solidFill>
                <a:hlinkClick r:id="rId3"/>
              </a:rPr>
              <a:t>https://www.kaggle.com/arthurpaulino/honey-production/data</a:t>
            </a:r>
            <a:endParaRPr sz="2400"/>
          </a:p>
          <a:p>
            <a:pPr indent="0" lvl="0" marL="0" rtl="0" algn="l">
              <a:lnSpc>
                <a:spcPct val="100000"/>
              </a:lnSpc>
              <a:spcBef>
                <a:spcPts val="640"/>
              </a:spcBef>
              <a:spcAft>
                <a:spcPts val="0"/>
              </a:spcAft>
              <a:buSzPts val="3200"/>
              <a:buNone/>
            </a:pPr>
            <a:r>
              <a:t/>
            </a:r>
            <a:endParaRPr sz="2400"/>
          </a:p>
        </p:txBody>
      </p:sp>
      <p:sp>
        <p:nvSpPr>
          <p:cNvPr id="326" name="Google Shape;326;p26"/>
          <p:cNvSpPr txBox="1"/>
          <p:nvPr>
            <p:ph idx="12" type="sldNum"/>
          </p:nvPr>
        </p:nvSpPr>
        <p:spPr>
          <a:xfrm>
            <a:off x="8737600" y="6477000"/>
            <a:ext cx="28449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595959"/>
              </a:buClr>
              <a:buSzPts val="1400"/>
              <a:buFont typeface="Candara"/>
              <a:buNone/>
            </a:pPr>
            <a:fld id="{00000000-1234-1234-1234-123412341234}" type="slidenum">
              <a:rPr lang="en-I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7"/>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u="sng"/>
              <a:t>Steps </a:t>
            </a:r>
            <a:endParaRPr u="sng"/>
          </a:p>
        </p:txBody>
      </p:sp>
      <p:sp>
        <p:nvSpPr>
          <p:cNvPr id="333" name="Google Shape;333;p27"/>
          <p:cNvSpPr txBox="1"/>
          <p:nvPr>
            <p:ph idx="1" type="body"/>
          </p:nvPr>
        </p:nvSpPr>
        <p:spPr>
          <a:xfrm>
            <a:off x="609600" y="1600200"/>
            <a:ext cx="109728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640"/>
              </a:spcBef>
              <a:spcAft>
                <a:spcPts val="0"/>
              </a:spcAft>
              <a:buSzPts val="3200"/>
              <a:buChar char="•"/>
            </a:pPr>
            <a:r>
              <a:rPr lang="en-IN" sz="1800">
                <a:latin typeface="Calibri"/>
                <a:ea typeface="Calibri"/>
                <a:cs typeface="Calibri"/>
                <a:sym typeface="Calibri"/>
              </a:rPr>
              <a:t>Import pandas, numpy, seaborn, matplotlib.pyplot packages</a:t>
            </a:r>
            <a:endParaRPr/>
          </a:p>
          <a:p>
            <a:pPr indent="-342900" lvl="0" marL="342900" rtl="0" algn="l">
              <a:lnSpc>
                <a:spcPct val="100000"/>
              </a:lnSpc>
              <a:spcBef>
                <a:spcPts val="640"/>
              </a:spcBef>
              <a:spcAft>
                <a:spcPts val="0"/>
              </a:spcAft>
              <a:buSzPts val="3200"/>
              <a:buChar char="•"/>
            </a:pPr>
            <a:r>
              <a:rPr lang="en-IN" sz="1800">
                <a:latin typeface="Calibri"/>
                <a:ea typeface="Calibri"/>
                <a:cs typeface="Calibri"/>
                <a:sym typeface="Calibri"/>
              </a:rPr>
              <a:t>Get the data</a:t>
            </a:r>
            <a:endParaRPr sz="1800">
              <a:latin typeface="Calibri"/>
              <a:ea typeface="Calibri"/>
              <a:cs typeface="Calibri"/>
              <a:sym typeface="Calibri"/>
            </a:endParaRPr>
          </a:p>
          <a:p>
            <a:pPr indent="-342900" lvl="0" marL="342900" rtl="0" algn="l">
              <a:lnSpc>
                <a:spcPct val="100000"/>
              </a:lnSpc>
              <a:spcBef>
                <a:spcPts val="640"/>
              </a:spcBef>
              <a:spcAft>
                <a:spcPts val="0"/>
              </a:spcAft>
              <a:buSzPts val="3200"/>
              <a:buChar char="•"/>
            </a:pPr>
            <a:r>
              <a:rPr lang="en-IN" sz="1800">
                <a:latin typeface="Calibri"/>
                <a:ea typeface="Calibri"/>
                <a:cs typeface="Calibri"/>
                <a:sym typeface="Calibri"/>
              </a:rPr>
              <a:t>Explore the data for non-null and extreme values</a:t>
            </a:r>
            <a:endParaRPr/>
          </a:p>
          <a:p>
            <a:pPr indent="-342900" lvl="0" marL="342900" rtl="0" algn="l">
              <a:lnSpc>
                <a:spcPct val="100000"/>
              </a:lnSpc>
              <a:spcBef>
                <a:spcPts val="640"/>
              </a:spcBef>
              <a:spcAft>
                <a:spcPts val="0"/>
              </a:spcAft>
              <a:buSzPts val="3200"/>
              <a:buChar char="•"/>
            </a:pPr>
            <a:r>
              <a:rPr lang="en-IN" sz="1800">
                <a:latin typeface="Calibri"/>
                <a:ea typeface="Calibri"/>
                <a:cs typeface="Calibri"/>
                <a:sym typeface="Calibri"/>
              </a:rPr>
              <a:t>How many States are included in the dataset?</a:t>
            </a:r>
            <a:endParaRPr/>
          </a:p>
          <a:p>
            <a:pPr indent="-342900" lvl="0" marL="342900" rtl="0" algn="l">
              <a:lnSpc>
                <a:spcPct val="100000"/>
              </a:lnSpc>
              <a:spcBef>
                <a:spcPts val="640"/>
              </a:spcBef>
              <a:spcAft>
                <a:spcPts val="0"/>
              </a:spcAft>
              <a:buSzPts val="3200"/>
              <a:buChar char="•"/>
            </a:pPr>
            <a:r>
              <a:rPr lang="en-IN" sz="1800">
                <a:latin typeface="Calibri"/>
                <a:ea typeface="Calibri"/>
                <a:cs typeface="Calibri"/>
                <a:sym typeface="Calibri"/>
              </a:rPr>
              <a:t>Which are he States that are included in this dataset?</a:t>
            </a:r>
            <a:endParaRPr/>
          </a:p>
          <a:p>
            <a:pPr indent="-342900" lvl="0" marL="342900" rtl="0" algn="l">
              <a:lnSpc>
                <a:spcPct val="100000"/>
              </a:lnSpc>
              <a:spcBef>
                <a:spcPts val="640"/>
              </a:spcBef>
              <a:spcAft>
                <a:spcPts val="0"/>
              </a:spcAft>
              <a:buSzPts val="3200"/>
              <a:buChar char="•"/>
            </a:pPr>
            <a:r>
              <a:rPr lang="en-IN" sz="1800">
                <a:latin typeface="Calibri"/>
                <a:ea typeface="Calibri"/>
                <a:cs typeface="Calibri"/>
                <a:sym typeface="Calibri"/>
              </a:rPr>
              <a:t>Calculate the average production for each state across all years</a:t>
            </a:r>
            <a:endParaRPr/>
          </a:p>
          <a:p>
            <a:pPr indent="-342900" lvl="0" marL="342900" rtl="0" algn="l">
              <a:lnSpc>
                <a:spcPct val="100000"/>
              </a:lnSpc>
              <a:spcBef>
                <a:spcPts val="640"/>
              </a:spcBef>
              <a:spcAft>
                <a:spcPts val="0"/>
              </a:spcAft>
              <a:buSzPts val="3200"/>
              <a:buChar char="•"/>
            </a:pPr>
            <a:r>
              <a:rPr lang="en-IN" sz="1800">
                <a:latin typeface="Calibri"/>
                <a:ea typeface="Calibri"/>
                <a:cs typeface="Calibri"/>
                <a:sym typeface="Calibri"/>
              </a:rPr>
              <a:t>How many years data is provided in the dataset? And what is the starting and ending year?</a:t>
            </a:r>
            <a:endParaRPr/>
          </a:p>
          <a:p>
            <a:pPr indent="-311150" lvl="0" marL="514350" rtl="0" algn="l">
              <a:lnSpc>
                <a:spcPct val="100000"/>
              </a:lnSpc>
              <a:spcBef>
                <a:spcPts val="640"/>
              </a:spcBef>
              <a:spcAft>
                <a:spcPts val="0"/>
              </a:spcAft>
              <a:buSzPts val="3200"/>
              <a:buFont typeface="Arial"/>
              <a:buNone/>
            </a:pPr>
            <a:r>
              <a:t/>
            </a:r>
            <a:endParaRPr sz="2000">
              <a:latin typeface="Calibri"/>
              <a:ea typeface="Calibri"/>
              <a:cs typeface="Calibri"/>
              <a:sym typeface="Calibri"/>
            </a:endParaRPr>
          </a:p>
          <a:p>
            <a:pPr indent="0" lvl="0" marL="0" rtl="0" algn="l">
              <a:lnSpc>
                <a:spcPct val="100000"/>
              </a:lnSpc>
              <a:spcBef>
                <a:spcPts val="640"/>
              </a:spcBef>
              <a:spcAft>
                <a:spcPts val="0"/>
              </a:spcAft>
              <a:buSzPts val="3200"/>
              <a:buNone/>
            </a:pPr>
            <a:br>
              <a:rPr lang="en-IN" sz="2400">
                <a:latin typeface="Calibri"/>
                <a:ea typeface="Calibri"/>
                <a:cs typeface="Calibri"/>
                <a:sym typeface="Calibri"/>
              </a:rPr>
            </a:br>
            <a:br>
              <a:rPr lang="en-IN" sz="2400">
                <a:latin typeface="Calibri"/>
                <a:ea typeface="Calibri"/>
                <a:cs typeface="Calibri"/>
                <a:sym typeface="Calibri"/>
              </a:rPr>
            </a:br>
            <a:endParaRPr sz="2400">
              <a:latin typeface="Calibri"/>
              <a:ea typeface="Calibri"/>
              <a:cs typeface="Calibri"/>
              <a:sym typeface="Calibri"/>
            </a:endParaRPr>
          </a:p>
          <a:p>
            <a:pPr indent="0" lvl="0" marL="0" rtl="0" algn="l">
              <a:lnSpc>
                <a:spcPct val="100000"/>
              </a:lnSpc>
              <a:spcBef>
                <a:spcPts val="640"/>
              </a:spcBef>
              <a:spcAft>
                <a:spcPts val="0"/>
              </a:spcAft>
              <a:buSzPts val="3200"/>
              <a:buNone/>
            </a:pPr>
            <a:r>
              <a:t/>
            </a:r>
            <a:endParaRPr sz="2400">
              <a:latin typeface="Calibri"/>
              <a:ea typeface="Calibri"/>
              <a:cs typeface="Calibri"/>
              <a:sym typeface="Calibri"/>
            </a:endParaRPr>
          </a:p>
          <a:p>
            <a:pPr indent="0" lvl="0" marL="0" rtl="0" algn="l">
              <a:lnSpc>
                <a:spcPct val="100000"/>
              </a:lnSpc>
              <a:spcBef>
                <a:spcPts val="640"/>
              </a:spcBef>
              <a:spcAft>
                <a:spcPts val="0"/>
              </a:spcAft>
              <a:buSzPts val="3200"/>
              <a:buNone/>
            </a:pPr>
            <a:r>
              <a:t/>
            </a:r>
            <a:endParaRPr sz="2400">
              <a:latin typeface="Calibri"/>
              <a:ea typeface="Calibri"/>
              <a:cs typeface="Calibri"/>
              <a:sym typeface="Calibri"/>
            </a:endParaRPr>
          </a:p>
        </p:txBody>
      </p:sp>
      <p:sp>
        <p:nvSpPr>
          <p:cNvPr id="334" name="Google Shape;334;p27"/>
          <p:cNvSpPr txBox="1"/>
          <p:nvPr>
            <p:ph idx="12" type="sldNum"/>
          </p:nvPr>
        </p:nvSpPr>
        <p:spPr>
          <a:xfrm>
            <a:off x="8737600" y="6477000"/>
            <a:ext cx="28449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595959"/>
              </a:buClr>
              <a:buSzPts val="1400"/>
              <a:buFont typeface="Candara"/>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8"/>
          <p:cNvSpPr txBox="1"/>
          <p:nvPr/>
        </p:nvSpPr>
        <p:spPr>
          <a:xfrm>
            <a:off x="4219575" y="4572000"/>
            <a:ext cx="3454400" cy="9239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5400"/>
              <a:buFont typeface="Times New Roman"/>
              <a:buNone/>
            </a:pPr>
            <a:r>
              <a:rPr b="1" i="0" lang="en-IN" sz="5400" u="none" cap="none" strike="noStrike">
                <a:solidFill>
                  <a:schemeClr val="accent1"/>
                </a:solidFill>
                <a:latin typeface="Times New Roman"/>
                <a:ea typeface="Times New Roman"/>
                <a:cs typeface="Times New Roman"/>
                <a:sym typeface="Times New Roman"/>
              </a:rPr>
              <a:t>Questions?</a:t>
            </a:r>
            <a:endParaRPr b="0" i="0" sz="1400" u="none" cap="none" strike="noStrike">
              <a:solidFill>
                <a:srgbClr val="000000"/>
              </a:solidFill>
              <a:latin typeface="Arial"/>
              <a:ea typeface="Arial"/>
              <a:cs typeface="Arial"/>
              <a:sym typeface="Arial"/>
            </a:endParaRPr>
          </a:p>
        </p:txBody>
      </p:sp>
      <p:pic>
        <p:nvPicPr>
          <p:cNvPr id="340" name="Google Shape;340;p28"/>
          <p:cNvPicPr preferRelativeResize="0"/>
          <p:nvPr/>
        </p:nvPicPr>
        <p:blipFill rotWithShape="1">
          <a:blip r:embed="rId3">
            <a:alphaModFix/>
          </a:blip>
          <a:srcRect b="0" l="0" r="0" t="0"/>
          <a:stretch/>
        </p:blipFill>
        <p:spPr>
          <a:xfrm>
            <a:off x="7639050" y="3798887"/>
            <a:ext cx="3028950" cy="3028950"/>
          </a:xfrm>
          <a:prstGeom prst="rect">
            <a:avLst/>
          </a:prstGeom>
          <a:noFill/>
          <a:ln>
            <a:noFill/>
          </a:ln>
        </p:spPr>
      </p:pic>
      <p:pic>
        <p:nvPicPr>
          <p:cNvPr id="341" name="Google Shape;341;p28"/>
          <p:cNvPicPr preferRelativeResize="0"/>
          <p:nvPr/>
        </p:nvPicPr>
        <p:blipFill rotWithShape="1">
          <a:blip r:embed="rId4">
            <a:alphaModFix/>
          </a:blip>
          <a:srcRect b="0" l="0" r="0" t="0"/>
          <a:stretch/>
        </p:blipFill>
        <p:spPr>
          <a:xfrm>
            <a:off x="1584325" y="1450975"/>
            <a:ext cx="4359275" cy="2663825"/>
          </a:xfrm>
          <a:prstGeom prst="rect">
            <a:avLst/>
          </a:prstGeom>
          <a:noFill/>
          <a:ln>
            <a:noFill/>
          </a:ln>
        </p:spPr>
      </p:pic>
      <p:sp>
        <p:nvSpPr>
          <p:cNvPr id="342" name="Google Shape;342;p28"/>
          <p:cNvSpPr txBox="1"/>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400"/>
              <a:buFont typeface="Candara"/>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